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2"/>
  </p:notesMasterIdLst>
  <p:sldIdLst>
    <p:sldId id="266" r:id="rId5"/>
    <p:sldId id="493" r:id="rId6"/>
    <p:sldId id="309" r:id="rId7"/>
    <p:sldId id="312" r:id="rId8"/>
    <p:sldId id="313" r:id="rId9"/>
    <p:sldId id="314" r:id="rId10"/>
    <p:sldId id="315" r:id="rId11"/>
    <p:sldId id="316" r:id="rId12"/>
    <p:sldId id="318" r:id="rId13"/>
    <p:sldId id="319" r:id="rId14"/>
    <p:sldId id="320" r:id="rId15"/>
    <p:sldId id="321" r:id="rId16"/>
    <p:sldId id="322" r:id="rId17"/>
    <p:sldId id="323" r:id="rId18"/>
    <p:sldId id="336" r:id="rId19"/>
    <p:sldId id="376" r:id="rId20"/>
    <p:sldId id="377" r:id="rId21"/>
    <p:sldId id="378" r:id="rId22"/>
    <p:sldId id="379" r:id="rId23"/>
    <p:sldId id="380" r:id="rId24"/>
    <p:sldId id="256" r:id="rId25"/>
    <p:sldId id="257" r:id="rId26"/>
    <p:sldId id="258" r:id="rId27"/>
    <p:sldId id="259" r:id="rId28"/>
    <p:sldId id="260" r:id="rId29"/>
    <p:sldId id="382" r:id="rId30"/>
    <p:sldId id="464" r:id="rId31"/>
    <p:sldId id="385" r:id="rId32"/>
    <p:sldId id="344" r:id="rId33"/>
    <p:sldId id="347" r:id="rId34"/>
    <p:sldId id="361" r:id="rId35"/>
    <p:sldId id="374" r:id="rId36"/>
    <p:sldId id="330" r:id="rId37"/>
    <p:sldId id="375" r:id="rId38"/>
    <p:sldId id="466" r:id="rId39"/>
    <p:sldId id="349" r:id="rId40"/>
    <p:sldId id="467" r:id="rId41"/>
    <p:sldId id="503" r:id="rId42"/>
    <p:sldId id="504" r:id="rId43"/>
    <p:sldId id="351" r:id="rId44"/>
    <p:sldId id="350" r:id="rId45"/>
    <p:sldId id="468" r:id="rId46"/>
    <p:sldId id="335" r:id="rId47"/>
    <p:sldId id="387" r:id="rId48"/>
    <p:sldId id="388" r:id="rId49"/>
    <p:sldId id="389" r:id="rId50"/>
    <p:sldId id="337" r:id="rId51"/>
    <p:sldId id="331" r:id="rId52"/>
    <p:sldId id="390" r:id="rId53"/>
    <p:sldId id="423" r:id="rId54"/>
    <p:sldId id="332" r:id="rId55"/>
    <p:sldId id="333" r:id="rId56"/>
    <p:sldId id="334" r:id="rId57"/>
    <p:sldId id="415" r:id="rId58"/>
    <p:sldId id="420" r:id="rId59"/>
    <p:sldId id="340" r:id="rId60"/>
    <p:sldId id="419" r:id="rId61"/>
    <p:sldId id="505" r:id="rId62"/>
    <p:sldId id="339" r:id="rId63"/>
    <p:sldId id="506" r:id="rId64"/>
    <p:sldId id="495" r:id="rId65"/>
    <p:sldId id="499" r:id="rId66"/>
    <p:sldId id="500" r:id="rId67"/>
    <p:sldId id="496" r:id="rId68"/>
    <p:sldId id="497" r:id="rId69"/>
    <p:sldId id="498" r:id="rId70"/>
    <p:sldId id="507" r:id="rId71"/>
    <p:sldId id="488" r:id="rId72"/>
    <p:sldId id="508" r:id="rId73"/>
    <p:sldId id="352" r:id="rId74"/>
    <p:sldId id="353" r:id="rId75"/>
    <p:sldId id="354" r:id="rId76"/>
    <p:sldId id="424" r:id="rId77"/>
    <p:sldId id="425" r:id="rId78"/>
    <p:sldId id="426" r:id="rId79"/>
    <p:sldId id="470" r:id="rId80"/>
    <p:sldId id="471" r:id="rId81"/>
    <p:sldId id="472" r:id="rId82"/>
    <p:sldId id="489" r:id="rId83"/>
    <p:sldId id="490" r:id="rId84"/>
    <p:sldId id="491" r:id="rId85"/>
    <p:sldId id="492" r:id="rId86"/>
    <p:sldId id="494" r:id="rId87"/>
    <p:sldId id="427" r:id="rId88"/>
    <p:sldId id="428" r:id="rId89"/>
    <p:sldId id="429" r:id="rId90"/>
    <p:sldId id="430" r:id="rId91"/>
    <p:sldId id="431" r:id="rId92"/>
    <p:sldId id="432" r:id="rId93"/>
    <p:sldId id="433" r:id="rId94"/>
    <p:sldId id="434" r:id="rId95"/>
    <p:sldId id="435" r:id="rId96"/>
    <p:sldId id="436" r:id="rId97"/>
    <p:sldId id="437" r:id="rId98"/>
    <p:sldId id="438" r:id="rId99"/>
    <p:sldId id="473" r:id="rId100"/>
    <p:sldId id="439" r:id="rId101"/>
    <p:sldId id="440" r:id="rId102"/>
    <p:sldId id="477" r:id="rId103"/>
    <p:sldId id="478" r:id="rId104"/>
    <p:sldId id="479" r:id="rId105"/>
    <p:sldId id="480" r:id="rId106"/>
    <p:sldId id="481" r:id="rId107"/>
    <p:sldId id="482" r:id="rId108"/>
    <p:sldId id="483" r:id="rId109"/>
    <p:sldId id="484" r:id="rId110"/>
    <p:sldId id="502" r:id="rId1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CB5"/>
    <a:srgbClr val="A0C1A4"/>
    <a:srgbClr val="FEC33B"/>
    <a:srgbClr val="BEB19F"/>
    <a:srgbClr val="DDF4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78" autoAdjust="0"/>
    <p:restoredTop sz="68903" autoAdjust="0"/>
  </p:normalViewPr>
  <p:slideViewPr>
    <p:cSldViewPr snapToGrid="0">
      <p:cViewPr varScale="1">
        <p:scale>
          <a:sx n="76" d="100"/>
          <a:sy n="76" d="100"/>
        </p:scale>
        <p:origin x="176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presProps" Target="presProp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14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EE867-3C10-4462-9123-16981636799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34E221-ED41-4B76-856A-0CC83BBAC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23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024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85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2.1. Accessing Elements: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You can access list elements using their index (starting from 0).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fruits = ["apple", "banana", "cherry"]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print(fruits[0])  # Output: "apple"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print(fruits[-1])  # Output: "cherry" (negative index accesses from the end)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2.2. Modifying Elements: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Lists are mutable, meaning you can change their elements.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fruits = ["apple", "banana", "cherry"]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fruits[1] = "blueberry"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print(fruits)  # Output: ["apple", "blueberry", "cherry"]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2.3. Adding Elements:</a:t>
            </a:r>
          </a:p>
          <a:p>
            <a:r>
              <a:rPr lang="en-US" dirty="0"/>
              <a:t>You can add elements to a list using the append(), insert(), or extend() methods.</a:t>
            </a:r>
          </a:p>
          <a:p>
            <a:r>
              <a:rPr lang="en-US" dirty="0"/>
              <a:t>append() adds an item to the end of the list:</a:t>
            </a:r>
          </a:p>
          <a:p>
            <a:endParaRPr lang="en-US" dirty="0"/>
          </a:p>
          <a:p>
            <a:r>
              <a:rPr lang="en-US" dirty="0"/>
              <a:t>fruits = ["apple", "banana", "cherry"]</a:t>
            </a:r>
          </a:p>
          <a:p>
            <a:r>
              <a:rPr lang="en-US" dirty="0" err="1"/>
              <a:t>fruits.append</a:t>
            </a:r>
            <a:r>
              <a:rPr lang="en-US" dirty="0"/>
              <a:t>("orange")</a:t>
            </a:r>
          </a:p>
          <a:p>
            <a:r>
              <a:rPr lang="en-US" dirty="0"/>
              <a:t>print(fruits)  # Output: ["apple", "banana", "cherry", "orange"]</a:t>
            </a:r>
          </a:p>
          <a:p>
            <a:endParaRPr lang="en-US" dirty="0"/>
          </a:p>
          <a:p>
            <a:r>
              <a:rPr lang="en-US" dirty="0"/>
              <a:t>insert() adds an item at a specific index:</a:t>
            </a:r>
          </a:p>
          <a:p>
            <a:r>
              <a:rPr lang="en-US" dirty="0" err="1"/>
              <a:t>fruits.insert</a:t>
            </a:r>
            <a:r>
              <a:rPr lang="en-US" dirty="0"/>
              <a:t>(1, "blueberry")</a:t>
            </a:r>
          </a:p>
          <a:p>
            <a:r>
              <a:rPr lang="en-US" dirty="0"/>
              <a:t>print(fruits)  # Output: ["apple", "blueberry", "banana", "cherry"]</a:t>
            </a:r>
          </a:p>
          <a:p>
            <a:endParaRPr lang="en-US" dirty="0"/>
          </a:p>
          <a:p>
            <a:r>
              <a:rPr lang="en-US" dirty="0"/>
              <a:t>extend() adds multiple items (another list or </a:t>
            </a:r>
            <a:r>
              <a:rPr lang="en-US" dirty="0" err="1"/>
              <a:t>iterable</a:t>
            </a:r>
            <a:r>
              <a:rPr lang="en-US" dirty="0"/>
              <a:t>):</a:t>
            </a:r>
          </a:p>
          <a:p>
            <a:r>
              <a:rPr lang="en-US" dirty="0"/>
              <a:t>fruits = ["apple", "banana"]</a:t>
            </a:r>
          </a:p>
          <a:p>
            <a:r>
              <a:rPr lang="en-US" dirty="0" err="1"/>
              <a:t>fruits.extend</a:t>
            </a:r>
            <a:r>
              <a:rPr lang="en-US" dirty="0"/>
              <a:t>(["cherry", "orange"])</a:t>
            </a:r>
          </a:p>
          <a:p>
            <a:endParaRPr lang="en-US" dirty="0"/>
          </a:p>
          <a:p>
            <a:r>
              <a:rPr lang="en-US" dirty="0"/>
              <a:t>print(fruits)  # Output: ["apple", "banana", "cherry", "orange"]</a:t>
            </a:r>
          </a:p>
          <a:p>
            <a:r>
              <a:rPr lang="en-US" dirty="0"/>
              <a:t> </a:t>
            </a:r>
          </a:p>
          <a:p>
            <a:endParaRPr lang="en-US" dirty="0"/>
          </a:p>
          <a:p>
            <a:r>
              <a:rPr lang="en-US" dirty="0"/>
              <a:t>2.4. Removing Elements:</a:t>
            </a:r>
          </a:p>
          <a:p>
            <a:r>
              <a:rPr lang="en-US" dirty="0"/>
              <a:t>You can remove elements using remove(), pop(), or del.</a:t>
            </a:r>
          </a:p>
          <a:p>
            <a:r>
              <a:rPr lang="en-US" dirty="0"/>
              <a:t>remove() removes a specific item:</a:t>
            </a:r>
          </a:p>
          <a:p>
            <a:r>
              <a:rPr lang="en-US" dirty="0"/>
              <a:t>fruits = ["apple", "banana", "cherry"]</a:t>
            </a:r>
          </a:p>
          <a:p>
            <a:r>
              <a:rPr lang="en-US" dirty="0" err="1"/>
              <a:t>fruits.remove</a:t>
            </a:r>
            <a:r>
              <a:rPr lang="en-US" dirty="0"/>
              <a:t>("banana")</a:t>
            </a:r>
          </a:p>
          <a:p>
            <a:r>
              <a:rPr lang="en-US" dirty="0"/>
              <a:t>print(fruits)  # Output: ["apple", "cherry"]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pop() removes and returns the item at a specified index (default is the last item):</a:t>
            </a:r>
          </a:p>
          <a:p>
            <a:r>
              <a:rPr lang="en-US" dirty="0"/>
              <a:t>fruits = ["apple", "banana", "cherry"]</a:t>
            </a:r>
          </a:p>
          <a:p>
            <a:r>
              <a:rPr lang="en-US" dirty="0" err="1"/>
              <a:t>fruits.pop</a:t>
            </a:r>
            <a:r>
              <a:rPr lang="en-US" dirty="0"/>
              <a:t>(1)  # Removes "banana"</a:t>
            </a:r>
          </a:p>
          <a:p>
            <a:r>
              <a:rPr lang="en-US" dirty="0"/>
              <a:t>print(fruits)  # Output: ["apple", "cherry"]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del removes an item or slice of items by index:</a:t>
            </a:r>
          </a:p>
          <a:p>
            <a:r>
              <a:rPr lang="en-US" dirty="0"/>
              <a:t>fruits = ["apple", "banana", "cherry"]</a:t>
            </a:r>
          </a:p>
          <a:p>
            <a:r>
              <a:rPr lang="en-US" dirty="0"/>
              <a:t>del fruits[0]</a:t>
            </a:r>
          </a:p>
          <a:p>
            <a:r>
              <a:rPr lang="en-US" dirty="0"/>
              <a:t>print(fruits)  # Output: ["banana", "cherry"]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2.5. Slicing a List:</a:t>
            </a:r>
          </a:p>
          <a:p>
            <a:r>
              <a:rPr lang="en-US" dirty="0"/>
              <a:t>You can extract a portion of a list using slicing.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fruits = ["apple", "banana", "cherry", "orange", "grape"]</a:t>
            </a:r>
          </a:p>
          <a:p>
            <a:r>
              <a:rPr lang="en-US" dirty="0" err="1"/>
              <a:t>sliced_fruits</a:t>
            </a:r>
            <a:r>
              <a:rPr lang="en-US" dirty="0"/>
              <a:t> = fruits[1:4]</a:t>
            </a:r>
          </a:p>
          <a:p>
            <a:r>
              <a:rPr lang="en-US" dirty="0"/>
              <a:t>print(</a:t>
            </a:r>
            <a:r>
              <a:rPr lang="en-US" dirty="0" err="1"/>
              <a:t>sliced_fruits</a:t>
            </a:r>
            <a:r>
              <a:rPr lang="en-US" dirty="0"/>
              <a:t>)  # Output: ["banana", "cherry", "orange"]</a:t>
            </a:r>
          </a:p>
          <a:p>
            <a:r>
              <a:rPr lang="en-US" dirty="0"/>
              <a:t>Omitting start or end index: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print(fruits[:3])  # First 3 items: ["apple", "banana", "cherry"]</a:t>
            </a:r>
          </a:p>
          <a:p>
            <a:r>
              <a:rPr lang="en-US" dirty="0"/>
              <a:t>print(fruits[2:])  # From index 2 to the end: ["cherry", "orange", "grape"]</a:t>
            </a:r>
          </a:p>
          <a:p>
            <a:r>
              <a:rPr lang="en-US" dirty="0"/>
              <a:t> 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2.6. Sorting a List:</a:t>
            </a:r>
          </a:p>
          <a:p>
            <a:r>
              <a:rPr lang="en-US" dirty="0"/>
              <a:t>You can sort a list using the sort() method or sorted() function.</a:t>
            </a:r>
          </a:p>
          <a:p>
            <a:r>
              <a:rPr lang="en-US" dirty="0"/>
              <a:t>sort() sorts the list in place: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numbers = [3, 1, 4, 1, 5]</a:t>
            </a:r>
          </a:p>
          <a:p>
            <a:r>
              <a:rPr lang="en-US" dirty="0" err="1"/>
              <a:t>numbers.sort</a:t>
            </a:r>
            <a:r>
              <a:rPr lang="en-US" dirty="0"/>
              <a:t>()</a:t>
            </a:r>
          </a:p>
          <a:p>
            <a:r>
              <a:rPr lang="en-US" dirty="0"/>
              <a:t>print(numbers)  # Output: [1, 1, 3, 4, 5]</a:t>
            </a:r>
          </a:p>
          <a:p>
            <a:r>
              <a:rPr lang="en-US" dirty="0"/>
              <a:t>sorted() returns a new sorted list: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numbers = [3, 1, 4, 1, 5]</a:t>
            </a:r>
          </a:p>
          <a:p>
            <a:r>
              <a:rPr lang="en-US" dirty="0" err="1"/>
              <a:t>sorted_numbers</a:t>
            </a:r>
            <a:r>
              <a:rPr lang="en-US" dirty="0"/>
              <a:t> = sorted(numbers)</a:t>
            </a:r>
          </a:p>
          <a:p>
            <a:r>
              <a:rPr lang="en-US" dirty="0"/>
              <a:t>print(</a:t>
            </a:r>
            <a:r>
              <a:rPr lang="en-US" dirty="0" err="1"/>
              <a:t>sorted_numbers</a:t>
            </a:r>
            <a:r>
              <a:rPr lang="en-US" dirty="0"/>
              <a:t>)  # Output: [1, 1, 3, 4, 5]</a:t>
            </a:r>
          </a:p>
          <a:p>
            <a:r>
              <a:rPr lang="en-US" dirty="0"/>
              <a:t>Reverse sorting: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numbers.sort</a:t>
            </a:r>
            <a:r>
              <a:rPr lang="en-US" dirty="0"/>
              <a:t>(reverse=True)</a:t>
            </a:r>
          </a:p>
          <a:p>
            <a:r>
              <a:rPr lang="en-US" dirty="0"/>
              <a:t>print(numbers)  # Output: [5, 4, 3, 1, 1]</a:t>
            </a:r>
          </a:p>
          <a:p>
            <a:r>
              <a:rPr lang="en-US" dirty="0"/>
              <a:t> </a:t>
            </a:r>
          </a:p>
          <a:p>
            <a:endParaRPr lang="en-US" dirty="0"/>
          </a:p>
          <a:p>
            <a:r>
              <a:rPr lang="en-US" dirty="0"/>
              <a:t>2.7. Reversing a List:</a:t>
            </a:r>
          </a:p>
          <a:p>
            <a:r>
              <a:rPr lang="en-US" dirty="0"/>
              <a:t>You can reverse the order of elements using reverse().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numbers = [1, 2, 3, 4, 5]</a:t>
            </a:r>
          </a:p>
          <a:p>
            <a:r>
              <a:rPr lang="en-US" dirty="0" err="1"/>
              <a:t>numbers.reverse</a:t>
            </a:r>
            <a:r>
              <a:rPr lang="en-US" dirty="0"/>
              <a:t>()</a:t>
            </a:r>
          </a:p>
          <a:p>
            <a:r>
              <a:rPr lang="en-US" dirty="0"/>
              <a:t>print(numbers)  # Output: [5, 4, 3, 2, 1]</a:t>
            </a:r>
          </a:p>
          <a:p>
            <a:endParaRPr lang="en-US" dirty="0"/>
          </a:p>
          <a:p>
            <a:r>
              <a:rPr lang="en-US" dirty="0"/>
              <a:t>2.8. List Comprehension:</a:t>
            </a:r>
          </a:p>
          <a:p>
            <a:r>
              <a:rPr lang="en-US" dirty="0"/>
              <a:t>List comprehension provides a concise way to create lists based on existing lists or </a:t>
            </a:r>
            <a:r>
              <a:rPr lang="en-US" dirty="0" err="1"/>
              <a:t>iterables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numbers = [1, 2, 3, 4, 5]</a:t>
            </a:r>
          </a:p>
          <a:p>
            <a:r>
              <a:rPr lang="en-US" dirty="0"/>
              <a:t>squares = [n ** 2 for n in numbers]</a:t>
            </a:r>
          </a:p>
          <a:p>
            <a:r>
              <a:rPr lang="en-US" dirty="0"/>
              <a:t>print(squares)  # Output: [1, 4, 9, 16, 25]</a:t>
            </a:r>
          </a:p>
          <a:p>
            <a:r>
              <a:rPr lang="en-US" dirty="0"/>
              <a:t> </a:t>
            </a:r>
          </a:p>
          <a:p>
            <a:endParaRPr lang="en-US" dirty="0"/>
          </a:p>
          <a:p>
            <a:r>
              <a:rPr lang="en-US" dirty="0"/>
              <a:t>2.9. Checking Membership:</a:t>
            </a:r>
          </a:p>
          <a:p>
            <a:r>
              <a:rPr lang="en-US" dirty="0"/>
              <a:t>Use the in keyword to check if an item exists in a list.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fruits = ["apple", "banana", "cherry"]</a:t>
            </a:r>
          </a:p>
          <a:p>
            <a:r>
              <a:rPr lang="en-US" dirty="0"/>
              <a:t>print("banana" in fruits)  # Output: True</a:t>
            </a:r>
          </a:p>
          <a:p>
            <a:r>
              <a:rPr lang="en-US" dirty="0"/>
              <a:t>print("grape" in fruits)   # Output: False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2.10. Finding the Index of an Element:</a:t>
            </a:r>
          </a:p>
          <a:p>
            <a:r>
              <a:rPr lang="en-US" dirty="0"/>
              <a:t>Use the index() method to find the position of an element.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fruits = ["apple", "banana", "cherry"]</a:t>
            </a:r>
          </a:p>
          <a:p>
            <a:r>
              <a:rPr lang="en-US" dirty="0"/>
              <a:t>position = </a:t>
            </a:r>
            <a:r>
              <a:rPr lang="en-US" dirty="0" err="1"/>
              <a:t>fruits.index</a:t>
            </a:r>
            <a:r>
              <a:rPr lang="en-US" dirty="0"/>
              <a:t>("banana")</a:t>
            </a:r>
          </a:p>
          <a:p>
            <a:r>
              <a:rPr lang="en-US" dirty="0"/>
              <a:t>print(position)  # Output: 1</a:t>
            </a:r>
          </a:p>
          <a:p>
            <a:r>
              <a:rPr lang="en-US" dirty="0"/>
              <a:t> </a:t>
            </a:r>
          </a:p>
          <a:p>
            <a:endParaRPr lang="en-US" dirty="0"/>
          </a:p>
          <a:p>
            <a:r>
              <a:rPr lang="en-US" dirty="0"/>
              <a:t>2.11. Copying a List:</a:t>
            </a:r>
          </a:p>
          <a:p>
            <a:r>
              <a:rPr lang="en-US" dirty="0"/>
              <a:t>You can copy a list using slicing, list(), or copy().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original = ["apple", "banana", "cherry"]</a:t>
            </a:r>
          </a:p>
          <a:p>
            <a:r>
              <a:rPr lang="en-US" dirty="0" err="1"/>
              <a:t>copy_list</a:t>
            </a:r>
            <a:r>
              <a:rPr lang="en-US" dirty="0"/>
              <a:t> = original[:]</a:t>
            </a:r>
          </a:p>
          <a:p>
            <a:r>
              <a:rPr lang="en-US" dirty="0" err="1"/>
              <a:t>copy_list</a:t>
            </a:r>
            <a:r>
              <a:rPr lang="en-US" dirty="0"/>
              <a:t> = list(original)</a:t>
            </a:r>
          </a:p>
          <a:p>
            <a:r>
              <a:rPr lang="en-US" dirty="0" err="1"/>
              <a:t>copy_list</a:t>
            </a:r>
            <a:r>
              <a:rPr lang="en-US" dirty="0"/>
              <a:t> = </a:t>
            </a:r>
            <a:r>
              <a:rPr lang="en-US" dirty="0" err="1"/>
              <a:t>original.copy</a:t>
            </a:r>
            <a:r>
              <a:rPr lang="en-US" dirty="0"/>
              <a:t>()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2.12. Length of a List:</a:t>
            </a:r>
          </a:p>
          <a:p>
            <a:r>
              <a:rPr lang="en-US" dirty="0"/>
              <a:t>Use the </a:t>
            </a:r>
            <a:r>
              <a:rPr lang="en-US" dirty="0" err="1"/>
              <a:t>len</a:t>
            </a:r>
            <a:r>
              <a:rPr lang="en-US" dirty="0"/>
              <a:t>() function to get the number of items in a list.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fruits = ["apple", "banana", "cherry"]</a:t>
            </a:r>
          </a:p>
          <a:p>
            <a:r>
              <a:rPr lang="en-US" dirty="0"/>
              <a:t>print(</a:t>
            </a:r>
            <a:r>
              <a:rPr lang="en-US" dirty="0" err="1"/>
              <a:t>len</a:t>
            </a:r>
            <a:r>
              <a:rPr lang="en-US" dirty="0"/>
              <a:t>(fruits))  # Output: 3</a:t>
            </a:r>
          </a:p>
          <a:p>
            <a:r>
              <a:rPr lang="en-US" dirty="0"/>
              <a:t> 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66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623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 Accessing Elements:</a:t>
            </a:r>
          </a:p>
          <a:p>
            <a:r>
              <a:rPr lang="en-US" dirty="0"/>
              <a:t>You can access tuple elements using indexing, just like lists.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fruits = ("apple", "banana", "cherry")</a:t>
            </a:r>
          </a:p>
          <a:p>
            <a:r>
              <a:rPr lang="en-US" dirty="0"/>
              <a:t>print(fruits[0])  # Output: "apple"</a:t>
            </a:r>
          </a:p>
          <a:p>
            <a:r>
              <a:rPr lang="en-US" dirty="0"/>
              <a:t>print(fruits[-1])  # Output: "cherry" (negative index accesses from the end)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2.2. Slicing a Tuple:</a:t>
            </a:r>
          </a:p>
          <a:p>
            <a:r>
              <a:rPr lang="en-US" dirty="0"/>
              <a:t>You can slice a tuple to extract a portion of it, similar to lists.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fruits = ("apple", "banana", "cherry", "orange", "grape")</a:t>
            </a:r>
          </a:p>
          <a:p>
            <a:r>
              <a:rPr lang="en-US" dirty="0"/>
              <a:t>print(fruits[1:4])  # Output: ("banana", "cherry", "orange")</a:t>
            </a:r>
          </a:p>
          <a:p>
            <a:r>
              <a:rPr lang="en-US" dirty="0"/>
              <a:t>print(fruits[:3])   # Output: ("apple", "banana", "cherry")</a:t>
            </a:r>
          </a:p>
          <a:p>
            <a:r>
              <a:rPr lang="en-US" dirty="0"/>
              <a:t>print(fruits[2:])   # Output: ("cherry", "orange", "grape")</a:t>
            </a:r>
          </a:p>
          <a:p>
            <a:endParaRPr lang="en-US" dirty="0"/>
          </a:p>
          <a:p>
            <a:r>
              <a:rPr lang="en-US" dirty="0"/>
              <a:t>2.3. Checking Membership:</a:t>
            </a:r>
          </a:p>
          <a:p>
            <a:r>
              <a:rPr lang="en-US" dirty="0"/>
              <a:t>You can check if an item exists in a tuple using the in keyword.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fruits = ("apple", "banana", "cherry")</a:t>
            </a:r>
          </a:p>
          <a:p>
            <a:r>
              <a:rPr lang="en-US" dirty="0"/>
              <a:t>print("banana" in fruits)  # Output: True</a:t>
            </a:r>
          </a:p>
          <a:p>
            <a:r>
              <a:rPr lang="en-US" dirty="0"/>
              <a:t>print("grape" in fruits)   # Output: False</a:t>
            </a:r>
          </a:p>
          <a:p>
            <a:endParaRPr lang="en-US" dirty="0"/>
          </a:p>
          <a:p>
            <a:r>
              <a:rPr lang="en-US" dirty="0"/>
              <a:t>2.4. Tuple Concatenation:</a:t>
            </a:r>
          </a:p>
          <a:p>
            <a:r>
              <a:rPr lang="en-US" dirty="0"/>
              <a:t>You can combine two or more tuples using the + operator.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fruits = ("apple", "banana")</a:t>
            </a:r>
          </a:p>
          <a:p>
            <a:r>
              <a:rPr lang="en-US" dirty="0"/>
              <a:t>vegetables = ("carrot", "broccoli")</a:t>
            </a:r>
          </a:p>
          <a:p>
            <a:r>
              <a:rPr lang="en-US" dirty="0"/>
              <a:t>combined = fruits + vegetables</a:t>
            </a:r>
          </a:p>
          <a:p>
            <a:r>
              <a:rPr lang="en-US" dirty="0"/>
              <a:t>print(combined)  # Output: ("apple", "banana", "carrot", "broccoli")</a:t>
            </a:r>
          </a:p>
          <a:p>
            <a:r>
              <a:rPr lang="en-US" dirty="0"/>
              <a:t>2.5. Repeating a Tuple:</a:t>
            </a:r>
          </a:p>
          <a:p>
            <a:r>
              <a:rPr lang="en-US" dirty="0"/>
              <a:t>You can repeat a tuple using the * operator.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fruits = ("apple", "banana")</a:t>
            </a:r>
          </a:p>
          <a:p>
            <a:r>
              <a:rPr lang="en-US" dirty="0"/>
              <a:t>repeated = fruits * 2</a:t>
            </a:r>
          </a:p>
          <a:p>
            <a:r>
              <a:rPr lang="en-US" dirty="0"/>
              <a:t>print(repeated)  # Output: ("apple", "banana", "apple", "banana")</a:t>
            </a:r>
          </a:p>
          <a:p>
            <a:r>
              <a:rPr lang="en-US" dirty="0"/>
              <a:t>2.6. Tuple Unpacking:</a:t>
            </a:r>
          </a:p>
          <a:p>
            <a:r>
              <a:rPr lang="en-US" dirty="0"/>
              <a:t>You can unpack the elements of a tuple into individual variables.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fruits = ("apple", "banana", "cherry")</a:t>
            </a:r>
          </a:p>
          <a:p>
            <a:r>
              <a:rPr lang="en-US" dirty="0"/>
              <a:t>(a, b, c) = fruits</a:t>
            </a:r>
          </a:p>
          <a:p>
            <a:r>
              <a:rPr lang="en-US" dirty="0"/>
              <a:t>print(a)  # Output: "apple"</a:t>
            </a:r>
          </a:p>
          <a:p>
            <a:r>
              <a:rPr lang="en-US" dirty="0"/>
              <a:t>print(b)  # Output: "banana"</a:t>
            </a:r>
          </a:p>
          <a:p>
            <a:r>
              <a:rPr lang="en-US" dirty="0"/>
              <a:t>print(c)  # Output: "cherry"</a:t>
            </a:r>
          </a:p>
          <a:p>
            <a:r>
              <a:rPr lang="en-US" dirty="0"/>
              <a:t>You can also unpack with the * symbol to collect multiple items into a list: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fruits = ("apple", "banana", "cherry", "orange", "grape")</a:t>
            </a:r>
          </a:p>
          <a:p>
            <a:r>
              <a:rPr lang="en-US" dirty="0"/>
              <a:t>(first, *middle, last) = fruits</a:t>
            </a:r>
          </a:p>
          <a:p>
            <a:r>
              <a:rPr lang="en-US" dirty="0"/>
              <a:t>print(middle)  # Output: ["banana", "cherry", "orange"]</a:t>
            </a:r>
          </a:p>
          <a:p>
            <a:endParaRPr lang="en-US" dirty="0"/>
          </a:p>
          <a:p>
            <a:r>
              <a:rPr lang="en-US" dirty="0"/>
              <a:t>2.7. Finding the Length of a Tuple:</a:t>
            </a:r>
          </a:p>
          <a:p>
            <a:r>
              <a:rPr lang="en-US" dirty="0"/>
              <a:t>Use the </a:t>
            </a:r>
            <a:r>
              <a:rPr lang="en-US" dirty="0" err="1"/>
              <a:t>len</a:t>
            </a:r>
            <a:r>
              <a:rPr lang="en-US" dirty="0"/>
              <a:t>() function to get the number of items in a tuple.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fruits = ("apple", "banana", "cherry")</a:t>
            </a:r>
          </a:p>
          <a:p>
            <a:r>
              <a:rPr lang="en-US" dirty="0"/>
              <a:t>print(</a:t>
            </a:r>
            <a:r>
              <a:rPr lang="en-US" dirty="0" err="1"/>
              <a:t>len</a:t>
            </a:r>
            <a:r>
              <a:rPr lang="en-US" dirty="0"/>
              <a:t>(fruits))  # Output: 3</a:t>
            </a:r>
          </a:p>
          <a:p>
            <a:endParaRPr lang="en-US" dirty="0"/>
          </a:p>
          <a:p>
            <a:r>
              <a:rPr lang="en-US" dirty="0"/>
              <a:t>2.8. Tuple Methods:</a:t>
            </a:r>
          </a:p>
          <a:p>
            <a:r>
              <a:rPr lang="en-US" dirty="0"/>
              <a:t>Though tuples are immutable, they have two built-in methods:</a:t>
            </a:r>
          </a:p>
          <a:p>
            <a:r>
              <a:rPr lang="en-US" dirty="0"/>
              <a:t>count(): Returns the number of times a specified value appears in the tuple.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numbers = (1, 2, 3, 1, 1)</a:t>
            </a:r>
          </a:p>
          <a:p>
            <a:r>
              <a:rPr lang="en-US" dirty="0"/>
              <a:t>print(</a:t>
            </a:r>
            <a:r>
              <a:rPr lang="en-US" dirty="0" err="1"/>
              <a:t>numbers.count</a:t>
            </a:r>
            <a:r>
              <a:rPr lang="en-US" dirty="0"/>
              <a:t>(1))  # Output: 3</a:t>
            </a:r>
          </a:p>
          <a:p>
            <a:r>
              <a:rPr lang="en-US" dirty="0"/>
              <a:t>index(): Returns the index of the first occurrence of a specified value.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fruits = ("apple", "banana", "cherry")</a:t>
            </a:r>
          </a:p>
          <a:p>
            <a:r>
              <a:rPr lang="en-US" dirty="0"/>
              <a:t>print(</a:t>
            </a:r>
            <a:r>
              <a:rPr lang="en-US" dirty="0" err="1"/>
              <a:t>fruits.index</a:t>
            </a:r>
            <a:r>
              <a:rPr lang="en-US" dirty="0"/>
              <a:t>("banana"))  # Output: 1</a:t>
            </a:r>
          </a:p>
          <a:p>
            <a:endParaRPr lang="en-US" dirty="0"/>
          </a:p>
          <a:p>
            <a:r>
              <a:rPr lang="en-US" dirty="0"/>
              <a:t>2.9. Converting Tuple to List (and Vice Versa):</a:t>
            </a:r>
          </a:p>
          <a:p>
            <a:r>
              <a:rPr lang="en-US" dirty="0"/>
              <a:t>Although you cannot change the content of a tuple directly, you can convert a tuple to a list, modify the list, and then convert it back to a tuple.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fruits = ("apple", "banana", "cherry")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# Convert tuple to list</a:t>
            </a:r>
          </a:p>
          <a:p>
            <a:r>
              <a:rPr lang="en-US" dirty="0" err="1"/>
              <a:t>fruits_list</a:t>
            </a:r>
            <a:r>
              <a:rPr lang="en-US" dirty="0"/>
              <a:t> = list(fruits)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# Modify the list</a:t>
            </a:r>
          </a:p>
          <a:p>
            <a:r>
              <a:rPr lang="en-US" dirty="0" err="1"/>
              <a:t>fruits_list.append</a:t>
            </a:r>
            <a:r>
              <a:rPr lang="en-US" dirty="0"/>
              <a:t>("orange")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# Convert back to tuple</a:t>
            </a:r>
          </a:p>
          <a:p>
            <a:r>
              <a:rPr lang="en-US" dirty="0"/>
              <a:t>fruits = tuple(</a:t>
            </a:r>
            <a:r>
              <a:rPr lang="en-US" dirty="0" err="1"/>
              <a:t>fruits_list</a:t>
            </a:r>
            <a:r>
              <a:rPr lang="en-US" dirty="0"/>
              <a:t>)</a:t>
            </a:r>
          </a:p>
          <a:p>
            <a:r>
              <a:rPr lang="en-US" dirty="0"/>
              <a:t>print(fruits)  # Output: ("apple", "banana", "cherry", "orange")</a:t>
            </a:r>
          </a:p>
          <a:p>
            <a:endParaRPr lang="en-US" dirty="0"/>
          </a:p>
          <a:p>
            <a:r>
              <a:rPr lang="en-US" dirty="0"/>
              <a:t>2.10. Nested Tuples:</a:t>
            </a:r>
          </a:p>
          <a:p>
            <a:r>
              <a:rPr lang="en-US" dirty="0"/>
              <a:t>Tuples can contain other tuples (or lists), which allows for creating multi-dimensional data structures.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nested_tuple</a:t>
            </a:r>
            <a:r>
              <a:rPr lang="en-US" dirty="0"/>
              <a:t> = (("apple", "banana"), (1, 2, 3))</a:t>
            </a:r>
          </a:p>
          <a:p>
            <a:r>
              <a:rPr lang="en-US" dirty="0"/>
              <a:t>print(</a:t>
            </a:r>
            <a:r>
              <a:rPr lang="en-US" dirty="0" err="1"/>
              <a:t>nested_tuple</a:t>
            </a:r>
            <a:r>
              <a:rPr lang="en-US" dirty="0"/>
              <a:t>[0])  # Output: ("apple", "banana")</a:t>
            </a:r>
          </a:p>
          <a:p>
            <a:r>
              <a:rPr lang="en-US" dirty="0"/>
              <a:t>print(</a:t>
            </a:r>
            <a:r>
              <a:rPr lang="en-US" dirty="0" err="1"/>
              <a:t>nested_tuple</a:t>
            </a:r>
            <a:r>
              <a:rPr lang="en-US" dirty="0"/>
              <a:t>[1][2])  # Output: 3</a:t>
            </a:r>
          </a:p>
          <a:p>
            <a:endParaRPr lang="en-US" dirty="0"/>
          </a:p>
          <a:p>
            <a:r>
              <a:rPr lang="en-US" dirty="0"/>
              <a:t>2.11. Iterating Over a Tuple:</a:t>
            </a:r>
          </a:p>
          <a:p>
            <a:r>
              <a:rPr lang="en-US" dirty="0"/>
              <a:t>You can iterate over the elements of a tuple using a for loop.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fruits = ("apple", "banana", "cherry")</a:t>
            </a:r>
          </a:p>
          <a:p>
            <a:r>
              <a:rPr lang="en-US" dirty="0"/>
              <a:t>for fruit in fruits:</a:t>
            </a:r>
          </a:p>
          <a:p>
            <a:r>
              <a:rPr lang="en-US" dirty="0"/>
              <a:t>    print(fruit)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714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Creating a Dictionary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my_dict</a:t>
            </a:r>
            <a:r>
              <a:rPr lang="en-US" dirty="0"/>
              <a:t> = {</a:t>
            </a:r>
          </a:p>
          <a:p>
            <a:r>
              <a:rPr lang="en-US" dirty="0"/>
              <a:t>    'name’: ‘Reema',</a:t>
            </a:r>
          </a:p>
          <a:p>
            <a:r>
              <a:rPr lang="en-US" dirty="0"/>
              <a:t>    'age': 25,</a:t>
            </a:r>
          </a:p>
          <a:p>
            <a:r>
              <a:rPr lang="en-US" dirty="0"/>
              <a:t>    'city': ‘Dublin'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2. Accessing Values</a:t>
            </a:r>
          </a:p>
          <a:p>
            <a:r>
              <a:rPr lang="en-US" dirty="0"/>
              <a:t>You can access the values by referring to the key:</a:t>
            </a:r>
          </a:p>
          <a:p>
            <a:r>
              <a:rPr lang="en-US" dirty="0"/>
              <a:t>print(</a:t>
            </a:r>
            <a:r>
              <a:rPr lang="en-US" dirty="0" err="1"/>
              <a:t>my_dict</a:t>
            </a:r>
            <a:r>
              <a:rPr lang="en-US" dirty="0"/>
              <a:t>['name'])  # Output: Reema</a:t>
            </a:r>
          </a:p>
          <a:p>
            <a:r>
              <a:rPr lang="en-US" dirty="0"/>
              <a:t>Or using the .get() method:</a:t>
            </a:r>
          </a:p>
          <a:p>
            <a:r>
              <a:rPr lang="en-US" dirty="0"/>
              <a:t>print(</a:t>
            </a:r>
            <a:r>
              <a:rPr lang="en-US" dirty="0" err="1"/>
              <a:t>my_dict.get</a:t>
            </a:r>
            <a:r>
              <a:rPr lang="en-US" dirty="0"/>
              <a:t>('age'))  # Output: 25</a:t>
            </a:r>
          </a:p>
          <a:p>
            <a:endParaRPr lang="en-US" dirty="0"/>
          </a:p>
          <a:p>
            <a:r>
              <a:rPr lang="en-US" dirty="0"/>
              <a:t>3. Adding or Updating Entries</a:t>
            </a:r>
          </a:p>
          <a:p>
            <a:r>
              <a:rPr lang="en-US" dirty="0"/>
              <a:t>To add a new key-value pair or update an existing key:</a:t>
            </a:r>
          </a:p>
          <a:p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 err="1"/>
              <a:t>my_dict</a:t>
            </a:r>
            <a:r>
              <a:rPr lang="en-US" dirty="0"/>
              <a:t>['profession'] = 'Engineer'  # Adding</a:t>
            </a:r>
          </a:p>
          <a:p>
            <a:r>
              <a:rPr lang="en-US" dirty="0" err="1"/>
              <a:t>my_dict</a:t>
            </a:r>
            <a:r>
              <a:rPr lang="en-US" dirty="0"/>
              <a:t>['age'] = 26  # Updating</a:t>
            </a:r>
          </a:p>
          <a:p>
            <a:endParaRPr lang="en-US" dirty="0"/>
          </a:p>
          <a:p>
            <a:r>
              <a:rPr lang="en-US" dirty="0"/>
              <a:t>4. Removing Items</a:t>
            </a:r>
          </a:p>
          <a:p>
            <a:r>
              <a:rPr lang="en-US" dirty="0"/>
              <a:t>You can remove items from a dictionary using various methods:</a:t>
            </a:r>
          </a:p>
          <a:p>
            <a:r>
              <a:rPr lang="en-US" dirty="0"/>
              <a:t>del keyword: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del </a:t>
            </a:r>
            <a:r>
              <a:rPr lang="en-US" dirty="0" err="1"/>
              <a:t>my_dict</a:t>
            </a:r>
            <a:r>
              <a:rPr lang="en-US" dirty="0"/>
              <a:t>['city']</a:t>
            </a:r>
          </a:p>
          <a:p>
            <a:r>
              <a:rPr lang="en-US" dirty="0"/>
              <a:t>pop() method (returns the value of the removed key):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my_dict.pop</a:t>
            </a:r>
            <a:r>
              <a:rPr lang="en-US" dirty="0"/>
              <a:t>('profession')</a:t>
            </a:r>
          </a:p>
          <a:p>
            <a:r>
              <a:rPr lang="en-US" dirty="0" err="1"/>
              <a:t>popitem</a:t>
            </a:r>
            <a:r>
              <a:rPr lang="en-US" dirty="0"/>
              <a:t>() (removes the last inserted key-value pair):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my_dict.popitem</a:t>
            </a:r>
            <a:r>
              <a:rPr lang="en-US" dirty="0"/>
              <a:t>()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5. Checking if a Key Exists</a:t>
            </a:r>
          </a:p>
          <a:p>
            <a:r>
              <a:rPr lang="en-US" dirty="0"/>
              <a:t>Use the in keyword to check if a key exists in the dictionary: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if 'name' in </a:t>
            </a:r>
            <a:r>
              <a:rPr lang="en-US" dirty="0" err="1"/>
              <a:t>my_dict</a:t>
            </a:r>
            <a:r>
              <a:rPr lang="en-US" dirty="0"/>
              <a:t>:</a:t>
            </a:r>
          </a:p>
          <a:p>
            <a:r>
              <a:rPr lang="en-US" dirty="0"/>
              <a:t>    print('Key exists!')</a:t>
            </a:r>
          </a:p>
          <a:p>
            <a:endParaRPr lang="en-US" dirty="0"/>
          </a:p>
          <a:p>
            <a:r>
              <a:rPr lang="en-US" dirty="0"/>
              <a:t>6. Iterating Through a Dictionary</a:t>
            </a:r>
          </a:p>
          <a:p>
            <a:r>
              <a:rPr lang="en-US" dirty="0"/>
              <a:t>Keys only: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for key in </a:t>
            </a:r>
            <a:r>
              <a:rPr lang="en-US" dirty="0" err="1"/>
              <a:t>my_dict</a:t>
            </a:r>
            <a:r>
              <a:rPr lang="en-US" dirty="0"/>
              <a:t>:</a:t>
            </a:r>
          </a:p>
          <a:p>
            <a:r>
              <a:rPr lang="en-US" dirty="0"/>
              <a:t>    print(key)</a:t>
            </a:r>
          </a:p>
          <a:p>
            <a:r>
              <a:rPr lang="en-US" dirty="0"/>
              <a:t>Values only: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for value in </a:t>
            </a:r>
            <a:r>
              <a:rPr lang="en-US" dirty="0" err="1"/>
              <a:t>my_dict.values</a:t>
            </a:r>
            <a:r>
              <a:rPr lang="en-US" dirty="0"/>
              <a:t>():</a:t>
            </a:r>
          </a:p>
          <a:p>
            <a:r>
              <a:rPr lang="en-US" dirty="0"/>
              <a:t>    print(value)</a:t>
            </a:r>
          </a:p>
          <a:p>
            <a:r>
              <a:rPr lang="en-US" dirty="0"/>
              <a:t>Key-Value pairs: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for key, value in </a:t>
            </a:r>
            <a:r>
              <a:rPr lang="en-US" dirty="0" err="1"/>
              <a:t>my_dict.items</a:t>
            </a:r>
            <a:r>
              <a:rPr lang="en-US" dirty="0"/>
              <a:t>():</a:t>
            </a:r>
          </a:p>
          <a:p>
            <a:r>
              <a:rPr lang="en-US" dirty="0"/>
              <a:t>    print(key, value)</a:t>
            </a:r>
          </a:p>
          <a:p>
            <a:endParaRPr lang="en-US" dirty="0"/>
          </a:p>
          <a:p>
            <a:r>
              <a:rPr lang="en-US" dirty="0"/>
              <a:t>7. Merging Dictionaries</a:t>
            </a:r>
          </a:p>
          <a:p>
            <a:r>
              <a:rPr lang="en-US" dirty="0"/>
              <a:t>You can merge two dictionaries using the update() method: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dict1 = {'a': 1, 'b': 2}</a:t>
            </a:r>
          </a:p>
          <a:p>
            <a:r>
              <a:rPr lang="en-US" dirty="0"/>
              <a:t>dict2 = {'b': 3, 'c': 4}</a:t>
            </a:r>
          </a:p>
          <a:p>
            <a:endParaRPr lang="en-US" dirty="0"/>
          </a:p>
          <a:p>
            <a:r>
              <a:rPr lang="en-US" dirty="0"/>
              <a:t>dict1.update(dict2)</a:t>
            </a:r>
          </a:p>
          <a:p>
            <a:r>
              <a:rPr lang="en-US" dirty="0"/>
              <a:t># Now dict1 is {'a': 1, 'b': 3, 'c': 4}</a:t>
            </a:r>
          </a:p>
          <a:p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Example of Manipulating a Dictionary: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# Create a dictionary</a:t>
            </a:r>
          </a:p>
          <a:p>
            <a:r>
              <a:rPr lang="en-US" dirty="0"/>
              <a:t>student = {</a:t>
            </a:r>
          </a:p>
          <a:p>
            <a:r>
              <a:rPr lang="en-US" dirty="0"/>
              <a:t>    'name': 'John',</a:t>
            </a:r>
          </a:p>
          <a:p>
            <a:r>
              <a:rPr lang="en-US" dirty="0"/>
              <a:t>    'age': 22,</a:t>
            </a:r>
          </a:p>
          <a:p>
            <a:r>
              <a:rPr lang="en-US" dirty="0"/>
              <a:t>    'courses': ['Math', 'Science']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# Add a new key-value pair</a:t>
            </a:r>
          </a:p>
          <a:p>
            <a:r>
              <a:rPr lang="en-US" dirty="0"/>
              <a:t>student['grade'] = 'A'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# Update a value</a:t>
            </a:r>
          </a:p>
          <a:p>
            <a:r>
              <a:rPr lang="en-US" dirty="0"/>
              <a:t>student['age'] = 23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# Remove an entry</a:t>
            </a:r>
          </a:p>
          <a:p>
            <a:r>
              <a:rPr lang="en-US" dirty="0" err="1"/>
              <a:t>student.pop</a:t>
            </a:r>
            <a:r>
              <a:rPr lang="en-US" dirty="0"/>
              <a:t>('courses')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# Check if key exists</a:t>
            </a:r>
          </a:p>
          <a:p>
            <a:r>
              <a:rPr lang="en-US" dirty="0"/>
              <a:t>if 'name' in student:</a:t>
            </a:r>
          </a:p>
          <a:p>
            <a:r>
              <a:rPr lang="en-US" dirty="0"/>
              <a:t>    print(student['name'])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# Iterate over dictionary</a:t>
            </a:r>
          </a:p>
          <a:p>
            <a:r>
              <a:rPr lang="en-US" dirty="0"/>
              <a:t>for key, value in </a:t>
            </a:r>
            <a:r>
              <a:rPr lang="en-US" dirty="0" err="1"/>
              <a:t>student.items</a:t>
            </a:r>
            <a:r>
              <a:rPr lang="en-US" dirty="0"/>
              <a:t>():</a:t>
            </a:r>
          </a:p>
          <a:p>
            <a:r>
              <a:rPr lang="en-US" dirty="0"/>
              <a:t>    print(f"{key}: {value}")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38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2. Tuple Practice Question</a:t>
            </a:r>
          </a:p>
          <a:p>
            <a:r>
              <a:rPr lang="en-US" b="1" dirty="0"/>
              <a:t>Question:</a:t>
            </a:r>
            <a:br>
              <a:rPr lang="en-US" dirty="0"/>
            </a:br>
            <a:r>
              <a:rPr lang="en-US" dirty="0"/>
              <a:t>You are given a tuple:</a:t>
            </a:r>
          </a:p>
          <a:p>
            <a:r>
              <a:rPr lang="en-US" dirty="0"/>
              <a:t>items = ("apple", "banana", "cherry", "banana", "mango", "banana")</a:t>
            </a:r>
          </a:p>
          <a:p>
            <a:r>
              <a:rPr lang="en-US" dirty="0"/>
              <a:t>Write a Python program to:</a:t>
            </a:r>
          </a:p>
          <a:p>
            <a:r>
              <a:rPr lang="en-US" dirty="0"/>
              <a:t>Count how many times "banana" appears in the tuple.</a:t>
            </a:r>
          </a:p>
          <a:p>
            <a:r>
              <a:rPr lang="en-US" dirty="0"/>
              <a:t>Find the </a:t>
            </a:r>
            <a:r>
              <a:rPr lang="en-US" b="1" dirty="0"/>
              <a:t>index of the first occurrence</a:t>
            </a:r>
            <a:r>
              <a:rPr lang="en-US" dirty="0"/>
              <a:t> of "banana".</a:t>
            </a:r>
          </a:p>
          <a:p>
            <a:r>
              <a:rPr lang="en-US" dirty="0"/>
              <a:t>Convert this tuple into a </a:t>
            </a:r>
            <a:r>
              <a:rPr lang="en-US" b="1" dirty="0"/>
              <a:t>list</a:t>
            </a:r>
            <a:r>
              <a:rPr lang="en-US" dirty="0"/>
              <a:t>, add "orange" to it, and convert it back to a tuple.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3. Dictionary Practice Question</a:t>
            </a:r>
          </a:p>
          <a:p>
            <a:r>
              <a:rPr lang="en-US" b="1" dirty="0"/>
              <a:t>Question:</a:t>
            </a:r>
            <a:br>
              <a:rPr lang="en-US" dirty="0"/>
            </a:br>
            <a:r>
              <a:rPr lang="en-US" dirty="0"/>
              <a:t>Create a dictionary to store marks of </a:t>
            </a:r>
            <a:r>
              <a:rPr lang="en-US" b="1" dirty="0"/>
              <a:t>3 subjects</a:t>
            </a:r>
            <a:r>
              <a:rPr lang="en-US" dirty="0"/>
              <a:t> entered by the user, like:</a:t>
            </a:r>
          </a:p>
          <a:p>
            <a:r>
              <a:rPr lang="en-US" dirty="0"/>
              <a:t>{"Math": 78, "Science": 85, "English": 90}</a:t>
            </a:r>
          </a:p>
          <a:p>
            <a:r>
              <a:rPr lang="en-US" dirty="0"/>
              <a:t>Then:</a:t>
            </a:r>
          </a:p>
          <a:p>
            <a:r>
              <a:rPr lang="en-US" dirty="0"/>
              <a:t>Calculate and print the </a:t>
            </a:r>
            <a:r>
              <a:rPr lang="en-US" b="1" dirty="0"/>
              <a:t>total</a:t>
            </a:r>
            <a:r>
              <a:rPr lang="en-US" dirty="0"/>
              <a:t> and </a:t>
            </a:r>
            <a:r>
              <a:rPr lang="en-US" b="1" dirty="0"/>
              <a:t>percentage</a:t>
            </a:r>
            <a:r>
              <a:rPr lang="en-US" dirty="0"/>
              <a:t>.</a:t>
            </a:r>
          </a:p>
          <a:p>
            <a:r>
              <a:rPr lang="en-US" dirty="0"/>
              <a:t>Print the </a:t>
            </a:r>
            <a:r>
              <a:rPr lang="en-US" b="1" dirty="0"/>
              <a:t>highest scoring subject</a:t>
            </a:r>
            <a:r>
              <a:rPr lang="en-US" dirty="0"/>
              <a:t>.</a:t>
            </a:r>
          </a:p>
          <a:p>
            <a:r>
              <a:rPr lang="en-US" dirty="0"/>
              <a:t>Add a new key "Grade" based on percentage:</a:t>
            </a:r>
          </a:p>
          <a:p>
            <a:pPr lvl="1"/>
            <a:r>
              <a:rPr lang="en-US" dirty="0"/>
              <a:t>&gt;= 90 → "A"</a:t>
            </a:r>
          </a:p>
          <a:p>
            <a:pPr lvl="1"/>
            <a:r>
              <a:rPr lang="en-US" dirty="0"/>
              <a:t>&gt;= 75 → "B"</a:t>
            </a:r>
          </a:p>
          <a:p>
            <a:pPr lvl="1"/>
            <a:r>
              <a:rPr lang="en-US" dirty="0"/>
              <a:t>&gt;= 50 → "C"</a:t>
            </a:r>
          </a:p>
          <a:p>
            <a:pPr lvl="1"/>
            <a:r>
              <a:rPr lang="en-US" dirty="0"/>
              <a:t>Else → "Fail"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62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 info(**data):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print(data)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print(data["name"])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info(name="Harmeet", age=25)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3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03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325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328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os</a:t>
            </a:r>
            <a:endParaRPr lang="en-US" dirty="0"/>
          </a:p>
          <a:p>
            <a:r>
              <a:rPr lang="en-US" dirty="0"/>
              <a:t>import sys</a:t>
            </a:r>
          </a:p>
          <a:p>
            <a:r>
              <a:rPr lang="en-US" dirty="0"/>
              <a:t>from datetime import datetime</a:t>
            </a:r>
          </a:p>
          <a:p>
            <a:endParaRPr lang="en-US" dirty="0"/>
          </a:p>
          <a:p>
            <a:r>
              <a:rPr lang="en-US" dirty="0"/>
              <a:t># Get command-line argument (if any)</a:t>
            </a:r>
          </a:p>
          <a:p>
            <a:r>
              <a:rPr lang="en-US" dirty="0"/>
              <a:t>mode = None</a:t>
            </a:r>
          </a:p>
          <a:p>
            <a:r>
              <a:rPr lang="en-US" dirty="0"/>
              <a:t>if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sys.argv</a:t>
            </a:r>
            <a:r>
              <a:rPr lang="en-US" dirty="0"/>
              <a:t>) &gt; 1:</a:t>
            </a:r>
          </a:p>
          <a:p>
            <a:r>
              <a:rPr lang="en-US" dirty="0"/>
              <a:t>    mode = </a:t>
            </a:r>
            <a:r>
              <a:rPr lang="en-US" dirty="0" err="1"/>
              <a:t>sys.argv</a:t>
            </a:r>
            <a:r>
              <a:rPr lang="en-US" dirty="0"/>
              <a:t>[1].lower()   # example: "d"</a:t>
            </a:r>
          </a:p>
          <a:p>
            <a:endParaRPr lang="en-US" dirty="0"/>
          </a:p>
          <a:p>
            <a:r>
              <a:rPr lang="en-US" dirty="0"/>
              <a:t># Get current folder</a:t>
            </a:r>
          </a:p>
          <a:p>
            <a:r>
              <a:rPr lang="en-US" dirty="0" err="1"/>
              <a:t>current_folder</a:t>
            </a:r>
            <a:r>
              <a:rPr lang="en-US" dirty="0"/>
              <a:t> = </a:t>
            </a:r>
            <a:r>
              <a:rPr lang="en-US" dirty="0" err="1"/>
              <a:t>os.getcwd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# List all items</a:t>
            </a:r>
          </a:p>
          <a:p>
            <a:r>
              <a:rPr lang="en-US" dirty="0"/>
              <a:t>items = </a:t>
            </a:r>
            <a:r>
              <a:rPr lang="en-US" dirty="0" err="1"/>
              <a:t>os.listdir</a:t>
            </a:r>
            <a:r>
              <a:rPr lang="en-US" dirty="0"/>
              <a:t>(</a:t>
            </a:r>
            <a:r>
              <a:rPr lang="en-US" dirty="0" err="1"/>
              <a:t>current_folder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Filter only files</a:t>
            </a:r>
          </a:p>
          <a:p>
            <a:r>
              <a:rPr lang="en-US" dirty="0"/>
              <a:t>files = [f for f in items if </a:t>
            </a:r>
            <a:r>
              <a:rPr lang="en-US" dirty="0" err="1"/>
              <a:t>os.path.isfile</a:t>
            </a:r>
            <a:r>
              <a:rPr lang="en-US" dirty="0"/>
              <a:t>(</a:t>
            </a:r>
            <a:r>
              <a:rPr lang="en-US" dirty="0" err="1"/>
              <a:t>os.path.join</a:t>
            </a:r>
            <a:r>
              <a:rPr lang="en-US" dirty="0"/>
              <a:t>(</a:t>
            </a:r>
            <a:r>
              <a:rPr lang="en-US" dirty="0" err="1"/>
              <a:t>current_folder</a:t>
            </a:r>
            <a:r>
              <a:rPr lang="en-US" dirty="0"/>
              <a:t>, f))]</a:t>
            </a:r>
          </a:p>
          <a:p>
            <a:endParaRPr lang="en-US" dirty="0"/>
          </a:p>
          <a:p>
            <a:r>
              <a:rPr lang="en-US" dirty="0"/>
              <a:t># --- BASIC LISTING ---</a:t>
            </a:r>
          </a:p>
          <a:p>
            <a:r>
              <a:rPr lang="en-US" dirty="0"/>
              <a:t>if mode != "d":</a:t>
            </a:r>
          </a:p>
          <a:p>
            <a:r>
              <a:rPr lang="en-US" dirty="0"/>
              <a:t>    print("Total Files Found:", </a:t>
            </a:r>
            <a:r>
              <a:rPr lang="en-US" dirty="0" err="1"/>
              <a:t>len</a:t>
            </a:r>
            <a:r>
              <a:rPr lang="en-US" dirty="0"/>
              <a:t>(files))</a:t>
            </a:r>
          </a:p>
          <a:p>
            <a:r>
              <a:rPr lang="en-US" dirty="0"/>
              <a:t>    print("\</a:t>
            </a:r>
            <a:r>
              <a:rPr lang="en-US" dirty="0" err="1"/>
              <a:t>nList</a:t>
            </a:r>
            <a:r>
              <a:rPr lang="en-US" dirty="0"/>
              <a:t> of Files:")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, file in enumerate(files, start=1):</a:t>
            </a:r>
          </a:p>
          <a:p>
            <a:r>
              <a:rPr lang="en-US" dirty="0"/>
              <a:t>        print(f"{</a:t>
            </a:r>
            <a:r>
              <a:rPr lang="en-US" dirty="0" err="1"/>
              <a:t>i</a:t>
            </a:r>
            <a:r>
              <a:rPr lang="en-US" dirty="0"/>
              <a:t>}. {file}")</a:t>
            </a:r>
          </a:p>
          <a:p>
            <a:endParaRPr lang="en-US" dirty="0"/>
          </a:p>
          <a:p>
            <a:r>
              <a:rPr lang="en-US" dirty="0"/>
              <a:t># --- DETAILED LISTING ---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print("Total Files Found:", </a:t>
            </a:r>
            <a:r>
              <a:rPr lang="en-US" dirty="0" err="1"/>
              <a:t>len</a:t>
            </a:r>
            <a:r>
              <a:rPr lang="en-US" dirty="0"/>
              <a:t>(files))</a:t>
            </a:r>
          </a:p>
          <a:p>
            <a:r>
              <a:rPr lang="en-US" dirty="0"/>
              <a:t>    print("\</a:t>
            </a:r>
            <a:r>
              <a:rPr lang="en-US" dirty="0" err="1"/>
              <a:t>nDetailed</a:t>
            </a:r>
            <a:r>
              <a:rPr lang="en-US" dirty="0"/>
              <a:t> File List (Name | Size | Modified Date):\n")</a:t>
            </a:r>
          </a:p>
          <a:p>
            <a:endParaRPr lang="en-US" dirty="0"/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, file in enumerate(files, start=1):</a:t>
            </a:r>
          </a:p>
          <a:p>
            <a:r>
              <a:rPr lang="en-US" dirty="0"/>
              <a:t>        </a:t>
            </a:r>
            <a:r>
              <a:rPr lang="en-US" dirty="0" err="1"/>
              <a:t>file_path</a:t>
            </a:r>
            <a:r>
              <a:rPr lang="en-US" dirty="0"/>
              <a:t> = </a:t>
            </a:r>
            <a:r>
              <a:rPr lang="en-US" dirty="0" err="1"/>
              <a:t>os.path.join</a:t>
            </a:r>
            <a:r>
              <a:rPr lang="en-US" dirty="0"/>
              <a:t>(</a:t>
            </a:r>
            <a:r>
              <a:rPr lang="en-US" dirty="0" err="1"/>
              <a:t>current_folder</a:t>
            </a:r>
            <a:r>
              <a:rPr lang="en-US" dirty="0"/>
              <a:t>, file)</a:t>
            </a:r>
          </a:p>
          <a:p>
            <a:endParaRPr lang="en-US" dirty="0"/>
          </a:p>
          <a:p>
            <a:r>
              <a:rPr lang="en-US" dirty="0"/>
              <a:t>        size = </a:t>
            </a:r>
            <a:r>
              <a:rPr lang="en-US" dirty="0" err="1"/>
              <a:t>os.path.getsize</a:t>
            </a:r>
            <a:r>
              <a:rPr lang="en-US" dirty="0"/>
              <a:t>(</a:t>
            </a:r>
            <a:r>
              <a:rPr lang="en-US" dirty="0" err="1"/>
              <a:t>file_path</a:t>
            </a:r>
            <a:r>
              <a:rPr lang="en-US" dirty="0"/>
              <a:t>)              # bytes</a:t>
            </a:r>
          </a:p>
          <a:p>
            <a:r>
              <a:rPr lang="en-US" dirty="0"/>
              <a:t>        </a:t>
            </a:r>
            <a:r>
              <a:rPr lang="en-US" dirty="0" err="1"/>
              <a:t>modified_time</a:t>
            </a:r>
            <a:r>
              <a:rPr lang="en-US" dirty="0"/>
              <a:t> = </a:t>
            </a:r>
            <a:r>
              <a:rPr lang="en-US" dirty="0" err="1"/>
              <a:t>os.path.getmtime</a:t>
            </a:r>
            <a:r>
              <a:rPr lang="en-US" dirty="0"/>
              <a:t>(</a:t>
            </a:r>
            <a:r>
              <a:rPr lang="en-US" dirty="0" err="1"/>
              <a:t>file_path</a:t>
            </a:r>
            <a:r>
              <a:rPr lang="en-US" dirty="0"/>
              <a:t>)    # timestamp</a:t>
            </a:r>
          </a:p>
          <a:p>
            <a:r>
              <a:rPr lang="en-US" dirty="0"/>
              <a:t>        </a:t>
            </a:r>
            <a:r>
              <a:rPr lang="en-US" dirty="0" err="1"/>
              <a:t>modified_date</a:t>
            </a:r>
            <a:r>
              <a:rPr lang="en-US" dirty="0"/>
              <a:t> = </a:t>
            </a:r>
            <a:r>
              <a:rPr lang="en-US" dirty="0" err="1"/>
              <a:t>datetime.fromtimestamp</a:t>
            </a:r>
            <a:r>
              <a:rPr lang="en-US" dirty="0"/>
              <a:t>(</a:t>
            </a:r>
            <a:r>
              <a:rPr lang="en-US" dirty="0" err="1"/>
              <a:t>modified_time</a:t>
            </a:r>
            <a:r>
              <a:rPr lang="en-US" dirty="0"/>
              <a:t>).</a:t>
            </a:r>
            <a:r>
              <a:rPr lang="en-US" dirty="0" err="1"/>
              <a:t>strftime</a:t>
            </a:r>
            <a:r>
              <a:rPr lang="en-US" dirty="0"/>
              <a:t>("%Y-%m-%d %H:%M:%S")</a:t>
            </a:r>
          </a:p>
          <a:p>
            <a:endParaRPr lang="en-US" dirty="0"/>
          </a:p>
          <a:p>
            <a:r>
              <a:rPr lang="en-US" dirty="0"/>
              <a:t>        print(f"{</a:t>
            </a:r>
            <a:r>
              <a:rPr lang="en-US" dirty="0" err="1"/>
              <a:t>i</a:t>
            </a:r>
            <a:r>
              <a:rPr lang="en-US" dirty="0"/>
              <a:t>}. {file} | {size} bytes | {</a:t>
            </a:r>
            <a:r>
              <a:rPr lang="en-US" dirty="0" err="1"/>
              <a:t>modified_date</a:t>
            </a:r>
            <a:r>
              <a:rPr lang="en-US" dirty="0"/>
              <a:t>}")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87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sys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datetime import datetime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 = None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folder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os.getcwd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  </a:t>
            </a: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file_name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None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sys.argv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[1:]: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arg_lower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arg.lower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if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arg_lower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== 'd':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mode = 'd'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os.path.exists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if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os.path.isdir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folder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os.path.isfile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file_name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List items in the folder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items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os.listdir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(folder)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Filter files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file_name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files = 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file_name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if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os.path.isfile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file_name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else []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files = [f for f in items if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os.path.isfile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os.path.join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(folder, f))]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Output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not files: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print("No files found.")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print("Total Files Found:",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(files))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if mode != 'd':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print("\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nList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Files:")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for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file in enumerate(files, start=1):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print(f"{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}. {file}")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else: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print("\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nDetailed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 List (Name | Size | Modified Date):\n")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for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file in enumerate(files, start=1):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file_path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os.path.join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(folder, file)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size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os.path.getsize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file_path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modified_time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os.path.getmtime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file_path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modified_date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datetime.fromtimestamp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modified_time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strftime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("%Y-%m-%d %H:%M:%S")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print(f"{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}. {file} | {size} bytes | {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modified_date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}")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0054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 install playwright </a:t>
            </a:r>
          </a:p>
          <a:p>
            <a:r>
              <a:rPr lang="en-US" dirty="0"/>
              <a:t>playwright install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40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375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619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Step 1: Open Chrome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Step 2: Open Amazon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Step 3: Search for a product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Step 4: Scrape product names and prices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038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870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680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918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4E221-ED41-4B76-856A-0CC83BBAC3D2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44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https://practicetestautomation.com/practice-test-login/" TargetMode="Externa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C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Python for Automation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30000" y="4455621"/>
            <a:ext cx="4389120" cy="502141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Harmeet Singh Sehra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DE7B7A3A-0004-91E7-58C7-3A6B8DD8AE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681"/>
          <a:stretch>
            <a:fillRect/>
          </a:stretch>
        </p:blipFill>
        <p:spPr>
          <a:xfrm>
            <a:off x="1524997" y="2194911"/>
            <a:ext cx="3680007" cy="175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able with text and images&#10;&#10;AI-generated content may be incorrect.">
            <a:extLst>
              <a:ext uri="{FF2B5EF4-FFF2-40B4-BE49-F238E27FC236}">
                <a16:creationId xmlns:a16="http://schemas.microsoft.com/office/drawing/2014/main" id="{50C39AD9-3AFD-24BF-C8C0-4E9F234A4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804" y="334673"/>
            <a:ext cx="7588391" cy="583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286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B080FEF-14C2-BEE8-AC6A-F0249B001B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3440453"/>
              </p:ext>
            </p:extLst>
          </p:nvPr>
        </p:nvGraphicFramePr>
        <p:xfrm>
          <a:off x="1353880" y="1920948"/>
          <a:ext cx="9647273" cy="39127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7793">
                  <a:extLst>
                    <a:ext uri="{9D8B030D-6E8A-4147-A177-3AD203B41FA5}">
                      <a16:colId xmlns:a16="http://schemas.microsoft.com/office/drawing/2014/main" val="2356865247"/>
                    </a:ext>
                  </a:extLst>
                </a:gridCol>
                <a:gridCol w="3720649">
                  <a:extLst>
                    <a:ext uri="{9D8B030D-6E8A-4147-A177-3AD203B41FA5}">
                      <a16:colId xmlns:a16="http://schemas.microsoft.com/office/drawing/2014/main" val="355375117"/>
                    </a:ext>
                  </a:extLst>
                </a:gridCol>
                <a:gridCol w="3888831">
                  <a:extLst>
                    <a:ext uri="{9D8B030D-6E8A-4147-A177-3AD203B41FA5}">
                      <a16:colId xmlns:a16="http://schemas.microsoft.com/office/drawing/2014/main" val="469462486"/>
                    </a:ext>
                  </a:extLst>
                </a:gridCol>
              </a:tblGrid>
              <a:tr h="3515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Time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Module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Approach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5055894"/>
                  </a:ext>
                </a:extLst>
              </a:tr>
              <a:tr h="3515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9AM – 10AM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Python Basics and Overview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Interactive Session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0762545"/>
                  </a:ext>
                </a:extLst>
              </a:tr>
              <a:tr h="7257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10AM – 11AM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Data Types, Classes, Functions, Decorators, Args &amp; Kwargs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Interactive Session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0639008"/>
                  </a:ext>
                </a:extLst>
              </a:tr>
              <a:tr h="3515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11AM – 12NN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Web Automation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Interactive Session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6401358"/>
                  </a:ext>
                </a:extLst>
              </a:tr>
              <a:tr h="3515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12NN – 1PM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LUNCH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586324"/>
                  </a:ext>
                </a:extLst>
              </a:tr>
              <a:tr h="3515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1PM – 2PM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UI Automation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Interactive Session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6014992"/>
                  </a:ext>
                </a:extLst>
              </a:tr>
              <a:tr h="3515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2PM – 3PM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Exception and Retry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Interactive Session 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7996297"/>
                  </a:ext>
                </a:extLst>
              </a:tr>
              <a:tr h="7257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3PM – 4PM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JSON Parsing (), Singleton, Health Check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Touchbase / Demo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3044902"/>
                  </a:ext>
                </a:extLst>
              </a:tr>
              <a:tr h="3515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4PM – 5PM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Outlook and Logger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Touchbase / Demo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371002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401B7CF9-626B-341A-98DB-C827746CC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Day01</a:t>
            </a:r>
          </a:p>
        </p:txBody>
      </p:sp>
      <p:pic>
        <p:nvPicPr>
          <p:cNvPr id="3" name="Picture 2" descr="A table with text and images&#10;&#10;AI-generated content may be incorrect.">
            <a:extLst>
              <a:ext uri="{FF2B5EF4-FFF2-40B4-BE49-F238E27FC236}">
                <a16:creationId xmlns:a16="http://schemas.microsoft.com/office/drawing/2014/main" id="{A8A7A824-5C3B-0928-45C8-64720A8BDA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412"/>
          <a:stretch>
            <a:fillRect/>
          </a:stretch>
        </p:blipFill>
        <p:spPr>
          <a:xfrm>
            <a:off x="620550" y="1674812"/>
            <a:ext cx="11113932" cy="440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599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F799-D3B4-CE35-43FF-94EE34C7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Python and its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is a high-level, interpreted programming language known for its simplicity and readability. It is widely used in various fields such as web development, data analysis, artificial intelligence, automation, and more.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787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F799-D3B4-CE35-43FF-94EE34C7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Features of Python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Easy to learn and use</a:t>
            </a:r>
            <a:r>
              <a:rPr lang="en-US" dirty="0"/>
              <a:t>: Python’s syntax is designed to be intuitive and easy to read.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Interpreted Language</a:t>
            </a:r>
            <a:r>
              <a:rPr lang="en-US" dirty="0"/>
              <a:t>: Python is executed line-by-line, making it easier to debug.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Cross-platform</a:t>
            </a:r>
            <a:r>
              <a:rPr lang="en-US" dirty="0"/>
              <a:t>: Python runs on various platforms such as Windows, Mac, Linux,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Large standard library</a:t>
            </a:r>
            <a:r>
              <a:rPr lang="en-US" dirty="0"/>
              <a:t>: Python comes with a wide range of modules and libraries.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Dynamic Typing</a:t>
            </a:r>
            <a:r>
              <a:rPr lang="en-US" dirty="0"/>
              <a:t>: Variables in Python are dynamically typed, meaning you don’t need to declare their types.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Object-Oriented</a:t>
            </a:r>
            <a:r>
              <a:rPr lang="en-US" dirty="0"/>
              <a:t>: Python supports classes and objects, promoting code reusability.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899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F799-D3B4-CE35-43FF-94EE34C7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Python Development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418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859971"/>
            <a:ext cx="10203180" cy="500912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b="1" dirty="0"/>
              <a:t>Step 1: Install Python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Download and install Python from </a:t>
            </a:r>
            <a:r>
              <a:rPr lang="en-US" dirty="0">
                <a:hlinkClick r:id="rId2"/>
              </a:rPr>
              <a:t>python.org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Ensure you check the option </a:t>
            </a:r>
            <a:r>
              <a:rPr lang="en-US" b="1" dirty="0">
                <a:highlight>
                  <a:srgbClr val="FFFF00"/>
                </a:highlight>
              </a:rPr>
              <a:t>"Add Python to PATH"</a:t>
            </a:r>
            <a:r>
              <a:rPr lang="en-US" dirty="0">
                <a:highlight>
                  <a:srgbClr val="FFFF00"/>
                </a:highlight>
              </a:rPr>
              <a:t> during installation.</a:t>
            </a:r>
          </a:p>
          <a:p>
            <a:r>
              <a:rPr lang="en-US" b="1" dirty="0"/>
              <a:t>Step 2: Install an IDE (Integrated Development Environment)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Popular IDEs for Python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PyCharm</a:t>
            </a:r>
            <a:r>
              <a:rPr lang="en-US" dirty="0"/>
              <a:t>: Feature-rich IDE with support for professional development.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VS Code</a:t>
            </a:r>
            <a:r>
              <a:rPr lang="en-US" dirty="0"/>
              <a:t>: Lightweight, versatile editor with Python extension support.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Jupyter</a:t>
            </a:r>
            <a:r>
              <a:rPr lang="en-US" b="1" dirty="0"/>
              <a:t> Notebook</a:t>
            </a:r>
            <a:r>
              <a:rPr lang="en-US" dirty="0"/>
              <a:t>: Ideal for data analysis and interactive coding.</a:t>
            </a:r>
          </a:p>
        </p:txBody>
      </p:sp>
    </p:spTree>
    <p:extLst>
      <p:ext uri="{BB962C8B-B14F-4D97-AF65-F5344CB8AC3E}">
        <p14:creationId xmlns:p14="http://schemas.microsoft.com/office/powerpoint/2010/main" val="2721982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F799-D3B4-CE35-43FF-94EE34C7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Python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Python file with a .</a:t>
            </a:r>
            <a:r>
              <a:rPr lang="en-US" dirty="0" err="1"/>
              <a:t>py</a:t>
            </a:r>
            <a:r>
              <a:rPr lang="en-US" dirty="0"/>
              <a:t> extension (e.g., hello.py). </a:t>
            </a:r>
          </a:p>
          <a:p>
            <a:r>
              <a:rPr lang="en-US" dirty="0"/>
              <a:t>Open the terminal or command prompt.</a:t>
            </a:r>
          </a:p>
          <a:p>
            <a:r>
              <a:rPr lang="en-US" dirty="0"/>
              <a:t>Now run the file using </a:t>
            </a:r>
            <a:r>
              <a:rPr lang="en-US" dirty="0" err="1"/>
              <a:t>py</a:t>
            </a:r>
            <a:r>
              <a:rPr lang="en-US" dirty="0"/>
              <a:t> hello.py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862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F799-D3B4-CE35-43FF-94EE34C7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Python Syntax and Indentation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uses </a:t>
            </a:r>
            <a:r>
              <a:rPr lang="en-US" dirty="0">
                <a:highlight>
                  <a:srgbClr val="FFFF00"/>
                </a:highlight>
              </a:rPr>
              <a:t>indentation (whitespace) </a:t>
            </a:r>
            <a:r>
              <a:rPr lang="en-US" dirty="0"/>
              <a:t>to define the structure of code blocks rather than braces or keywords used in other languages.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464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F799-D3B4-CE35-43FF-94EE34C7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Python Syntax: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Comments: Use # for single-line comments.</a:t>
            </a:r>
          </a:p>
          <a:p>
            <a:r>
              <a:rPr lang="en-US" dirty="0"/>
              <a:t># This is a comment</a:t>
            </a:r>
          </a:p>
          <a:p>
            <a:r>
              <a:rPr lang="en-US" b="1" dirty="0"/>
              <a:t>Variables: You don’t need to declare the type of a variable. Just assign a value.</a:t>
            </a:r>
          </a:p>
          <a:p>
            <a:r>
              <a:rPr lang="en-US" dirty="0"/>
              <a:t>x = 10</a:t>
            </a:r>
          </a:p>
          <a:p>
            <a:r>
              <a:rPr lang="en-US" dirty="0"/>
              <a:t>name = "Python"</a:t>
            </a:r>
          </a:p>
          <a:p>
            <a:r>
              <a:rPr lang="en-US" b="1" dirty="0"/>
              <a:t>Print Statement: Use print() to display output.</a:t>
            </a:r>
          </a:p>
          <a:p>
            <a:r>
              <a:rPr lang="en-US" dirty="0"/>
              <a:t>print("Hello, Python!")</a:t>
            </a:r>
          </a:p>
        </p:txBody>
      </p:sp>
    </p:spTree>
    <p:extLst>
      <p:ext uri="{BB962C8B-B14F-4D97-AF65-F5344CB8AC3E}">
        <p14:creationId xmlns:p14="http://schemas.microsoft.com/office/powerpoint/2010/main" val="1013621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F799-D3B4-CE35-43FF-94EE34C7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Python, the most commonly used naming convention for variable names follows </a:t>
            </a:r>
            <a:r>
              <a:rPr lang="en-US" b="1" dirty="0" err="1"/>
              <a:t>snake_case</a:t>
            </a:r>
            <a:r>
              <a:rPr lang="en-US" dirty="0"/>
              <a:t>, where all letters are lowercase and words are separated by underscores (_). </a:t>
            </a:r>
          </a:p>
          <a:p>
            <a:r>
              <a:rPr lang="en-US" dirty="0"/>
              <a:t>This is the preferred style as per the PEP 8 (Python Enhancement Proposal 8) guidelines, which are the official style guide for Python code.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154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F799-D3B4-CE35-43FF-94EE34C7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user_name</a:t>
            </a:r>
            <a:r>
              <a:rPr lang="en-US" dirty="0"/>
              <a:t> = "Alice"</a:t>
            </a:r>
          </a:p>
          <a:p>
            <a:r>
              <a:rPr lang="en-US" dirty="0" err="1"/>
              <a:t>total_price</a:t>
            </a:r>
            <a:r>
              <a:rPr lang="en-US" dirty="0"/>
              <a:t> = 100</a:t>
            </a:r>
          </a:p>
          <a:p>
            <a:r>
              <a:rPr lang="en-US" dirty="0" err="1"/>
              <a:t>is_valid</a:t>
            </a:r>
            <a:r>
              <a:rPr lang="en-US" dirty="0"/>
              <a:t> = True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033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F799-D3B4-CE35-43FF-94EE34C7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Naming Styles in Python: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PascalCase</a:t>
            </a:r>
            <a:r>
              <a:rPr lang="en-US" dirty="0"/>
              <a:t>: Used mainly for class names, where each word starts with a capital letter and no underscores are used.</a:t>
            </a:r>
          </a:p>
          <a:p>
            <a:r>
              <a:rPr lang="en-US" dirty="0"/>
              <a:t>class </a:t>
            </a:r>
            <a:r>
              <a:rPr lang="en-US" dirty="0" err="1"/>
              <a:t>UserProfile</a:t>
            </a:r>
            <a:r>
              <a:rPr lang="en-US" dirty="0"/>
              <a:t>:</a:t>
            </a:r>
          </a:p>
          <a:p>
            <a:r>
              <a:rPr lang="en-US" dirty="0"/>
              <a:t>    pass</a:t>
            </a:r>
          </a:p>
          <a:p>
            <a:endParaRPr lang="en-US" dirty="0"/>
          </a:p>
          <a:p>
            <a:r>
              <a:rPr lang="en-US" b="1" dirty="0"/>
              <a:t>CONSTANT_CASE</a:t>
            </a:r>
            <a:r>
              <a:rPr lang="en-US" dirty="0"/>
              <a:t>: Used for constants, where all letters are uppercase and words are separated by underscores.</a:t>
            </a:r>
          </a:p>
          <a:p>
            <a:r>
              <a:rPr lang="en-US" dirty="0"/>
              <a:t>MAX_LIMIT = 100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611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F799-D3B4-CE35-43FF-94EE34C7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Rules for Python Variable Names: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Must start with a letter or an underscore (_).</a:t>
            </a:r>
          </a:p>
          <a:p>
            <a:r>
              <a:rPr lang="en-US" dirty="0"/>
              <a:t>Can contain letters, digits, and underscores, but no spaces.</a:t>
            </a:r>
          </a:p>
          <a:p>
            <a:r>
              <a:rPr lang="en-US" dirty="0"/>
              <a:t>Should avoid using reserved keywords like if, else, for, etc.</a:t>
            </a:r>
          </a:p>
        </p:txBody>
      </p:sp>
    </p:spTree>
    <p:extLst>
      <p:ext uri="{BB962C8B-B14F-4D97-AF65-F5344CB8AC3E}">
        <p14:creationId xmlns:p14="http://schemas.microsoft.com/office/powerpoint/2010/main" val="1745254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C1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t's try it retro speech bubble Stock Vector | Adobe Stock">
            <a:extLst>
              <a:ext uri="{FF2B5EF4-FFF2-40B4-BE49-F238E27FC236}">
                <a16:creationId xmlns:a16="http://schemas.microsoft.com/office/drawing/2014/main" id="{40BB1341-B923-BE21-1700-5A49F4C640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2"/>
          <a:stretch>
            <a:fillRect/>
          </a:stretch>
        </p:blipFill>
        <p:spPr bwMode="auto">
          <a:xfrm>
            <a:off x="5613990" y="0"/>
            <a:ext cx="6578009" cy="640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C2F799-D3B4-CE35-43FF-94EE34C7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have a small demo: </a:t>
            </a:r>
            <a:br>
              <a:rPr lang="en-US" dirty="0"/>
            </a:br>
            <a:r>
              <a:rPr lang="en-US" dirty="0"/>
              <a:t>First Python program</a:t>
            </a:r>
          </a:p>
        </p:txBody>
      </p:sp>
    </p:spTree>
    <p:extLst>
      <p:ext uri="{BB962C8B-B14F-4D97-AF65-F5344CB8AC3E}">
        <p14:creationId xmlns:p14="http://schemas.microsoft.com/office/powerpoint/2010/main" val="1191507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43601-0EE3-817F-FB0E-51D591659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Variables &amp; Data Types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50D48-F8AC-9111-6358-5F94A1A9B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 store data in Python. A variable is created automatically when you assign a value to it.</a:t>
            </a:r>
          </a:p>
          <a:p>
            <a:endParaRPr lang="en-US" dirty="0"/>
          </a:p>
          <a:p>
            <a:r>
              <a:rPr lang="en-US" dirty="0"/>
              <a:t>name = “Harmeet"</a:t>
            </a:r>
          </a:p>
          <a:p>
            <a:r>
              <a:rPr lang="en-US" dirty="0"/>
              <a:t>age = 25</a:t>
            </a:r>
          </a:p>
          <a:p>
            <a:r>
              <a:rPr lang="en-US" dirty="0"/>
              <a:t>price = 99.5</a:t>
            </a:r>
          </a:p>
          <a:p>
            <a:r>
              <a:rPr lang="en-US" dirty="0" err="1"/>
              <a:t>is_active</a:t>
            </a:r>
            <a:r>
              <a:rPr lang="en-US" dirty="0"/>
              <a:t> = True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038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3C31-B288-5822-5B55-54552CB7D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 Conversion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3AB01-73BF-1ADC-AE01-FE37B59C9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convert one data type to another:</a:t>
            </a:r>
          </a:p>
          <a:p>
            <a:r>
              <a:rPr lang="en-US" dirty="0"/>
              <a:t>x = "100"</a:t>
            </a:r>
          </a:p>
          <a:p>
            <a:r>
              <a:rPr lang="en-US" dirty="0"/>
              <a:t>num = int(x)  # str → int</a:t>
            </a:r>
          </a:p>
          <a:p>
            <a:r>
              <a:rPr lang="en-US" dirty="0"/>
              <a:t>pi = float("3.14")  # str → float</a:t>
            </a:r>
          </a:p>
          <a:p>
            <a:r>
              <a:rPr lang="en-US" dirty="0"/>
              <a:t>s = str(25)  # int → str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288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ABEC7-994F-6F54-9233-009FB7776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56D75-5048-B8E8-53FB-D63B9DC27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D4525-0442-6D5F-B2CC-B032C443B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Used to explain code and make it readable.</a:t>
            </a:r>
          </a:p>
          <a:p>
            <a:r>
              <a:rPr lang="en-US" dirty="0"/>
              <a:t># This prints a message</a:t>
            </a:r>
          </a:p>
          <a:p>
            <a:r>
              <a:rPr lang="en-US" dirty="0"/>
              <a:t>print("Hello")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"""</a:t>
            </a:r>
          </a:p>
          <a:p>
            <a:r>
              <a:rPr lang="en-US" dirty="0"/>
              <a:t>This is a multi-line comment</a:t>
            </a:r>
          </a:p>
          <a:p>
            <a:r>
              <a:rPr lang="en-US" dirty="0"/>
              <a:t>used for documentation</a:t>
            </a:r>
          </a:p>
          <a:p>
            <a:r>
              <a:rPr lang="en-US" dirty="0"/>
              <a:t>"""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034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8F814-E847-E7F0-7622-255A3BEF9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2C7C-1DD5-FF7F-C736-221E94745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Input/Output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0662C-B52B-9A4C-C835-95AF9C10D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interact with the user.</a:t>
            </a:r>
          </a:p>
          <a:p>
            <a:r>
              <a:rPr lang="en-US" dirty="0"/>
              <a:t>name = input("Enter your name: ")</a:t>
            </a:r>
          </a:p>
          <a:p>
            <a:r>
              <a:rPr lang="en-US" dirty="0"/>
              <a:t>print("Welcome", name)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272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E4AF2-23A6-F1EC-2392-6B416C651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983F7-8033-FEE9-DED7-FCD97075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Operations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31B97-68E5-FC6D-A930-286B2251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Includes arithmetic and logical operations: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D7BB04-AC3E-73F5-95F4-BB3DFCDCFBCA}"/>
              </a:ext>
            </a:extLst>
          </p:cNvPr>
          <p:cNvSpPr txBox="1">
            <a:spLocks/>
          </p:cNvSpPr>
          <p:nvPr/>
        </p:nvSpPr>
        <p:spPr>
          <a:xfrm>
            <a:off x="5736964" y="2357588"/>
            <a:ext cx="3142099" cy="4500412"/>
          </a:xfrm>
          <a:prstGeom prst="rect">
            <a:avLst/>
          </a:prstGeom>
          <a:solidFill>
            <a:schemeClr val="bg2"/>
          </a:solidFill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Arithmetic:</a:t>
            </a:r>
          </a:p>
          <a:p>
            <a:r>
              <a:rPr lang="en-US" dirty="0"/>
              <a:t>x = 10</a:t>
            </a:r>
          </a:p>
          <a:p>
            <a:r>
              <a:rPr lang="en-US" dirty="0"/>
              <a:t>y = 3</a:t>
            </a:r>
          </a:p>
          <a:p>
            <a:r>
              <a:rPr lang="en-US" dirty="0"/>
              <a:t>print(x + y)  # Addition</a:t>
            </a:r>
          </a:p>
          <a:p>
            <a:r>
              <a:rPr lang="en-US" dirty="0"/>
              <a:t>print(x - y)  # Subtraction</a:t>
            </a:r>
          </a:p>
          <a:p>
            <a:r>
              <a:rPr lang="en-US" dirty="0"/>
              <a:t>print(x * y)  # Multiplication</a:t>
            </a:r>
          </a:p>
          <a:p>
            <a:r>
              <a:rPr lang="en-US" dirty="0"/>
              <a:t>print(x / y)  # Division</a:t>
            </a:r>
          </a:p>
          <a:p>
            <a:r>
              <a:rPr lang="en-US" dirty="0"/>
              <a:t>print(x % y)  # Modulus</a:t>
            </a:r>
          </a:p>
          <a:p>
            <a:r>
              <a:rPr lang="en-US" dirty="0"/>
              <a:t>print(x ** y) # Power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C9B33B-5BF0-B2A9-6735-42A401F83F59}"/>
              </a:ext>
            </a:extLst>
          </p:cNvPr>
          <p:cNvSpPr txBox="1">
            <a:spLocks/>
          </p:cNvSpPr>
          <p:nvPr/>
        </p:nvSpPr>
        <p:spPr>
          <a:xfrm>
            <a:off x="8985202" y="2357588"/>
            <a:ext cx="3142099" cy="4042279"/>
          </a:xfrm>
          <a:prstGeom prst="rect">
            <a:avLst/>
          </a:prstGeom>
          <a:solidFill>
            <a:schemeClr val="bg2"/>
          </a:solidFill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Logical:</a:t>
            </a:r>
            <a:endParaRPr lang="en-US" dirty="0"/>
          </a:p>
          <a:p>
            <a:r>
              <a:rPr lang="es-ES" dirty="0" err="1"/>
              <a:t>print</a:t>
            </a:r>
            <a:r>
              <a:rPr lang="es-ES" dirty="0"/>
              <a:t>(x &gt; y)   # True</a:t>
            </a:r>
          </a:p>
          <a:p>
            <a:r>
              <a:rPr lang="es-ES" dirty="0" err="1"/>
              <a:t>print</a:t>
            </a:r>
            <a:r>
              <a:rPr lang="es-ES" dirty="0"/>
              <a:t>(x == y)  # False</a:t>
            </a:r>
          </a:p>
          <a:p>
            <a:r>
              <a:rPr lang="es-ES" dirty="0" err="1"/>
              <a:t>print</a:t>
            </a:r>
            <a:r>
              <a:rPr lang="es-ES" dirty="0"/>
              <a:t>(x != y)  # True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561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if, </a:t>
            </a:r>
            <a:r>
              <a:rPr dirty="0" err="1"/>
              <a:t>elif</a:t>
            </a:r>
            <a:r>
              <a:rPr dirty="0"/>
              <a:t>, 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dirty="0"/>
              <a:t>Definition: Used for decision-making based on conditions.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dirty="0"/>
              <a:t>Example 1: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dirty="0"/>
              <a:t>x = 10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dirty="0"/>
              <a:t>if x &gt; 5: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dirty="0"/>
              <a:t>    print('Greater than 5')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82511-AA37-E0EF-E4CA-C502C48DE77E}"/>
              </a:ext>
            </a:extLst>
          </p:cNvPr>
          <p:cNvSpPr txBox="1"/>
          <p:nvPr/>
        </p:nvSpPr>
        <p:spPr>
          <a:xfrm>
            <a:off x="8155957" y="3220824"/>
            <a:ext cx="3558182" cy="2726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Example 2: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marks = 75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if marks &gt;= 90: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print('A')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elif</a:t>
            </a:r>
            <a:r>
              <a:rPr lang="en-US" dirty="0"/>
              <a:t> marks &gt;= 60: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print('B')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else: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print('C')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Definition: Used to iterate over a sequence.</a:t>
            </a:r>
          </a:p>
          <a:p>
            <a:r>
              <a:rPr dirty="0"/>
              <a:t>Example 1:</a:t>
            </a:r>
          </a:p>
          <a:p>
            <a:r>
              <a:rPr dirty="0"/>
              <a:t>for </a:t>
            </a:r>
            <a:r>
              <a:rPr dirty="0" err="1"/>
              <a:t>i</a:t>
            </a:r>
            <a:r>
              <a:rPr dirty="0"/>
              <a:t> in range(3):</a:t>
            </a:r>
          </a:p>
          <a:p>
            <a:r>
              <a:rPr dirty="0"/>
              <a:t>    print(</a:t>
            </a:r>
            <a:r>
              <a:rPr dirty="0" err="1"/>
              <a:t>i</a:t>
            </a:r>
            <a:r>
              <a:rPr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C3E98-C76D-96D3-699F-AF5D2D253E3D}"/>
              </a:ext>
            </a:extLst>
          </p:cNvPr>
          <p:cNvSpPr txBox="1"/>
          <p:nvPr/>
        </p:nvSpPr>
        <p:spPr>
          <a:xfrm>
            <a:off x="8448804" y="4658976"/>
            <a:ext cx="303514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Example 2:</a:t>
            </a:r>
          </a:p>
          <a:p>
            <a:r>
              <a:rPr lang="en-US" sz="2800" dirty="0"/>
              <a:t>for </a:t>
            </a:r>
            <a:r>
              <a:rPr lang="en-US" sz="2800" dirty="0" err="1"/>
              <a:t>ch</a:t>
            </a:r>
            <a:r>
              <a:rPr lang="en-US" sz="2800" dirty="0"/>
              <a:t> in 'CAT':</a:t>
            </a:r>
          </a:p>
          <a:p>
            <a:r>
              <a:rPr lang="en-US" sz="2800" dirty="0"/>
              <a:t>    print(</a:t>
            </a:r>
            <a:r>
              <a:rPr lang="en-US" sz="2800" dirty="0" err="1"/>
              <a:t>ch</a:t>
            </a:r>
            <a:r>
              <a:rPr lang="en-US" sz="2800" dirty="0"/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Definition: Runs as long as a condition is True.</a:t>
            </a:r>
          </a:p>
          <a:p>
            <a:r>
              <a:rPr dirty="0"/>
              <a:t>Example 1:</a:t>
            </a:r>
          </a:p>
          <a:p>
            <a:r>
              <a:rPr dirty="0"/>
              <a:t>x = 1</a:t>
            </a:r>
          </a:p>
          <a:p>
            <a:r>
              <a:rPr dirty="0"/>
              <a:t>while x &lt;= 3:</a:t>
            </a:r>
          </a:p>
          <a:p>
            <a:r>
              <a:rPr dirty="0"/>
              <a:t>    print(x)</a:t>
            </a:r>
          </a:p>
          <a:p>
            <a:r>
              <a:rPr dirty="0"/>
              <a:t>    x +=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6AFD5A-1DDA-06D0-67FB-B3493C341BEB}"/>
              </a:ext>
            </a:extLst>
          </p:cNvPr>
          <p:cNvSpPr txBox="1"/>
          <p:nvPr/>
        </p:nvSpPr>
        <p:spPr>
          <a:xfrm>
            <a:off x="8174368" y="3483531"/>
            <a:ext cx="395370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Example 2:</a:t>
            </a:r>
          </a:p>
          <a:p>
            <a:r>
              <a:rPr lang="pt-BR" sz="2800" dirty="0"/>
              <a:t>num = 5</a:t>
            </a:r>
          </a:p>
          <a:p>
            <a:r>
              <a:rPr lang="pt-BR" sz="2800" dirty="0"/>
              <a:t>while num &gt; 0:</a:t>
            </a:r>
          </a:p>
          <a:p>
            <a:r>
              <a:rPr lang="pt-BR" sz="2800" dirty="0"/>
              <a:t>    print(num)</a:t>
            </a:r>
          </a:p>
          <a:p>
            <a:r>
              <a:rPr lang="pt-BR" sz="2800" dirty="0"/>
              <a:t>    num -=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break, continue,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Definition: Control statements to alter loop flow.</a:t>
            </a:r>
          </a:p>
          <a:p>
            <a:r>
              <a:rPr dirty="0"/>
              <a:t>Example 1 (break):</a:t>
            </a:r>
          </a:p>
          <a:p>
            <a:r>
              <a:rPr dirty="0"/>
              <a:t>for </a:t>
            </a:r>
            <a:r>
              <a:rPr dirty="0" err="1"/>
              <a:t>i</a:t>
            </a:r>
            <a:r>
              <a:rPr dirty="0"/>
              <a:t> in range(10):</a:t>
            </a:r>
          </a:p>
          <a:p>
            <a:r>
              <a:rPr dirty="0"/>
              <a:t>    if </a:t>
            </a:r>
            <a:r>
              <a:rPr dirty="0" err="1"/>
              <a:t>i</a:t>
            </a:r>
            <a:r>
              <a:rPr dirty="0"/>
              <a:t> == 5: break</a:t>
            </a:r>
          </a:p>
          <a:p>
            <a:r>
              <a:rPr dirty="0"/>
              <a:t>    print(</a:t>
            </a:r>
            <a:r>
              <a:rPr dirty="0" err="1"/>
              <a:t>i</a:t>
            </a:r>
            <a:r>
              <a:rPr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8AAF45-7544-CF48-EBE9-3A79A1547573}"/>
              </a:ext>
            </a:extLst>
          </p:cNvPr>
          <p:cNvSpPr txBox="1"/>
          <p:nvPr/>
        </p:nvSpPr>
        <p:spPr>
          <a:xfrm>
            <a:off x="6314882" y="2830370"/>
            <a:ext cx="529615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Example 2 (continue):</a:t>
            </a:r>
          </a:p>
          <a:p>
            <a:r>
              <a:rPr lang="en-US" sz="3200" dirty="0"/>
              <a:t>for </a:t>
            </a:r>
            <a:r>
              <a:rPr lang="en-US" sz="3200" dirty="0" err="1"/>
              <a:t>i</a:t>
            </a:r>
            <a:r>
              <a:rPr lang="en-US" sz="3200" dirty="0"/>
              <a:t> in range(5):</a:t>
            </a:r>
          </a:p>
          <a:p>
            <a:r>
              <a:rPr lang="en-US" sz="3200" dirty="0"/>
              <a:t>    if </a:t>
            </a:r>
            <a:r>
              <a:rPr lang="en-US" sz="3200" dirty="0" err="1"/>
              <a:t>i</a:t>
            </a:r>
            <a:r>
              <a:rPr lang="en-US" sz="3200" dirty="0"/>
              <a:t> == 2: continue</a:t>
            </a:r>
          </a:p>
          <a:p>
            <a:r>
              <a:rPr lang="en-US" sz="3200" dirty="0"/>
              <a:t>    print(</a:t>
            </a:r>
            <a:r>
              <a:rPr lang="en-US" sz="3200" dirty="0" err="1"/>
              <a:t>i</a:t>
            </a:r>
            <a:r>
              <a:rPr lang="en-US" sz="3200" dirty="0"/>
              <a:t>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Definition: AND, OR, NOT used to combine conditions.</a:t>
            </a:r>
          </a:p>
          <a:p>
            <a:r>
              <a:rPr dirty="0"/>
              <a:t>Example 1:</a:t>
            </a:r>
          </a:p>
          <a:p>
            <a:r>
              <a:rPr dirty="0"/>
              <a:t>x = 10</a:t>
            </a:r>
          </a:p>
          <a:p>
            <a:r>
              <a:rPr dirty="0"/>
              <a:t>y = 5</a:t>
            </a:r>
          </a:p>
          <a:p>
            <a:r>
              <a:rPr dirty="0"/>
              <a:t>print(x &gt; 5 and y &lt; 10)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C60EE-9E6B-E849-88D3-1C1EC79BC0DC}"/>
              </a:ext>
            </a:extLst>
          </p:cNvPr>
          <p:cNvSpPr txBox="1"/>
          <p:nvPr/>
        </p:nvSpPr>
        <p:spPr>
          <a:xfrm>
            <a:off x="7536128" y="4472413"/>
            <a:ext cx="43157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Example 2:</a:t>
            </a:r>
          </a:p>
          <a:p>
            <a:r>
              <a:rPr lang="en-US" sz="3200" dirty="0" err="1"/>
              <a:t>is_active</a:t>
            </a:r>
            <a:r>
              <a:rPr lang="en-US" sz="3200" dirty="0"/>
              <a:t> = False</a:t>
            </a:r>
          </a:p>
          <a:p>
            <a:r>
              <a:rPr lang="en-US" sz="3200" dirty="0"/>
              <a:t>print(not </a:t>
            </a:r>
            <a:r>
              <a:rPr lang="en-US" sz="3200" dirty="0" err="1"/>
              <a:t>is_active</a:t>
            </a:r>
            <a:r>
              <a:rPr lang="en-US" sz="3200" dirty="0"/>
              <a:t>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147E8-A0EA-FFAE-080F-158CB9FE0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1B922-8B88-DDD7-44C5-F41D57C2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79B62-4105-2787-701E-A01E6EBBF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Strings represent text and allow various operations like formatting, slicing, and case conversion.</a:t>
            </a:r>
          </a:p>
          <a:p>
            <a:endParaRPr lang="en-US" dirty="0"/>
          </a:p>
          <a:p>
            <a:r>
              <a:rPr lang="en-US" dirty="0"/>
              <a:t>message = "Hello World"</a:t>
            </a:r>
          </a:p>
          <a:p>
            <a:r>
              <a:rPr lang="en-US" dirty="0"/>
              <a:t>print(</a:t>
            </a:r>
            <a:r>
              <a:rPr lang="en-US" dirty="0" err="1"/>
              <a:t>message.upper</a:t>
            </a:r>
            <a:r>
              <a:rPr lang="en-US" dirty="0"/>
              <a:t>())   # Output: HELLO WORLD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73D343-7C0C-7FD8-4CFE-8795C5E07EBA}"/>
              </a:ext>
            </a:extLst>
          </p:cNvPr>
          <p:cNvSpPr txBox="1"/>
          <p:nvPr/>
        </p:nvSpPr>
        <p:spPr>
          <a:xfrm>
            <a:off x="5576920" y="4641597"/>
            <a:ext cx="6097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name = "Harmeet"</a:t>
            </a:r>
          </a:p>
          <a:p>
            <a:r>
              <a:rPr lang="en-US" dirty="0"/>
              <a:t>print("Welcome " + name)  # Output: Welcome Harmeet</a:t>
            </a:r>
          </a:p>
        </p:txBody>
      </p:sp>
    </p:spTree>
    <p:extLst>
      <p:ext uri="{BB962C8B-B14F-4D97-AF65-F5344CB8AC3E}">
        <p14:creationId xmlns:p14="http://schemas.microsoft.com/office/powerpoint/2010/main" val="267608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B1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2ADF6-EFDF-AC0B-06BC-54D219FB0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96BA8-1CB3-FE07-46D1-2B7E813A8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2730" y="1867197"/>
            <a:ext cx="3887899" cy="4512339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1. Write a Python program that asks the user to enter </a:t>
            </a:r>
            <a:r>
              <a:rPr lang="en-US" b="1" dirty="0"/>
              <a:t>10 numbers</a:t>
            </a:r>
            <a:r>
              <a:rPr lang="en-US" dirty="0"/>
              <a:t> (one by one).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dirty="0"/>
            </a:br>
            <a:r>
              <a:rPr lang="en-US" dirty="0"/>
              <a:t>classify each number as: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b="1" dirty="0"/>
              <a:t>Positive even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b="1" dirty="0"/>
              <a:t>Positive odd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b="1" dirty="0"/>
              <a:t>Negative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b="1" dirty="0"/>
              <a:t>Zero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ADAD88-B968-9A59-41A7-C1E1FA7945B2}"/>
              </a:ext>
            </a:extLst>
          </p:cNvPr>
          <p:cNvSpPr txBox="1">
            <a:spLocks/>
          </p:cNvSpPr>
          <p:nvPr/>
        </p:nvSpPr>
        <p:spPr>
          <a:xfrm>
            <a:off x="6481758" y="1867197"/>
            <a:ext cx="4027610" cy="45123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2. Write a Python program to evaluate student marks of </a:t>
            </a:r>
            <a:r>
              <a:rPr lang="en-US" b="1" dirty="0"/>
              <a:t>5 subjects</a:t>
            </a:r>
            <a:r>
              <a:rPr lang="en-US" dirty="0"/>
              <a:t>.</a:t>
            </a:r>
          </a:p>
          <a:p>
            <a:r>
              <a:rPr lang="en-US" b="1" dirty="0"/>
              <a:t>Conditions:</a:t>
            </a:r>
            <a:endParaRPr lang="en-US" dirty="0"/>
          </a:p>
          <a:p>
            <a:r>
              <a:rPr lang="en-US" dirty="0"/>
              <a:t>Calculate </a:t>
            </a:r>
            <a:r>
              <a:rPr lang="en-US" b="1" dirty="0"/>
              <a:t>total marks</a:t>
            </a:r>
            <a:r>
              <a:rPr lang="en-US" dirty="0"/>
              <a:t> and </a:t>
            </a:r>
            <a:r>
              <a:rPr lang="en-US" b="1" dirty="0"/>
              <a:t>percentage</a:t>
            </a:r>
            <a:r>
              <a:rPr lang="en-US" dirty="0"/>
              <a:t>.</a:t>
            </a:r>
          </a:p>
          <a:p>
            <a:r>
              <a:rPr lang="en-US" dirty="0"/>
              <a:t>Use a loop to accept marks.</a:t>
            </a:r>
          </a:p>
          <a:p>
            <a:r>
              <a:rPr lang="en-US" dirty="0"/>
              <a:t>Use </a:t>
            </a:r>
            <a:r>
              <a:rPr lang="en-US" b="1" dirty="0"/>
              <a:t>if/</a:t>
            </a:r>
            <a:r>
              <a:rPr lang="en-US" b="1" dirty="0" err="1"/>
              <a:t>elif</a:t>
            </a:r>
            <a:r>
              <a:rPr lang="en-US" b="1" dirty="0"/>
              <a:t>/else</a:t>
            </a:r>
            <a:r>
              <a:rPr lang="en-US" dirty="0"/>
              <a:t> to give </a:t>
            </a:r>
            <a:r>
              <a:rPr lang="en-US" b="1" dirty="0"/>
              <a:t>grade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&gt;= 90: Grade A</a:t>
            </a:r>
          </a:p>
          <a:p>
            <a:pPr lvl="1"/>
            <a:r>
              <a:rPr lang="en-US" dirty="0"/>
              <a:t>&gt;= 75 and &lt; 90: Grade B</a:t>
            </a:r>
          </a:p>
          <a:p>
            <a:pPr lvl="1"/>
            <a:r>
              <a:rPr lang="en-US" dirty="0"/>
              <a:t>&gt;= 50 and &lt; 75: Grade C</a:t>
            </a:r>
          </a:p>
          <a:p>
            <a:pPr lvl="1"/>
            <a:r>
              <a:rPr lang="en-US" dirty="0"/>
              <a:t>&lt; 50: Fail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pic>
        <p:nvPicPr>
          <p:cNvPr id="9" name="Picture 8" descr="A note on a piece of paper&#10;&#10;AI-generated content may be incorrect.">
            <a:extLst>
              <a:ext uri="{FF2B5EF4-FFF2-40B4-BE49-F238E27FC236}">
                <a16:creationId xmlns:a16="http://schemas.microsoft.com/office/drawing/2014/main" id="{43CC3882-368B-5685-F2C8-14FE7B824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946" y="1"/>
            <a:ext cx="2461053" cy="186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523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F01F-5113-7C1D-1DEE-0B25046DF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Collections (List, Tuple, Dictionary)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4DCCF-22B4-A48B-1A49-3C9747389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Collections store multiple values and support different operations and behaviors.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4756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9047-164E-C49D-4F82-C93D58F90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List Data Type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B39E0-9BFB-7E40-52DF-1351503A5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list in Python is a collection of items that are ordered and changeable (mutable). Lists allow duplicate values and can hold elements of different data types (e.g., integers, strings, etc.).</a:t>
            </a:r>
          </a:p>
          <a:p>
            <a:r>
              <a:rPr lang="en-US" dirty="0"/>
              <a:t>fruits = [["apple", "banana", "cherry"], ["apple", "banana", "cherry"], ["apple", "banana", "cherry"]]</a:t>
            </a:r>
          </a:p>
          <a:p>
            <a:r>
              <a:rPr lang="en-US" dirty="0"/>
              <a:t>numbers = [1, 2, 3, 4, 5]</a:t>
            </a:r>
          </a:p>
          <a:p>
            <a:r>
              <a:rPr lang="en-US" dirty="0"/>
              <a:t>mixed = [1, "apple", True, 3.5]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067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9047-164E-C49D-4F82-C93D58F90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B39E0-9BFB-7E40-52DF-1351503A5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2.1. Accessing Elements: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You can access list elements using their index (starting from 0).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fruits = ["apple", "banana", "cherry"]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print(fruits[0])  # Output: "apple"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print(fruits[-1])  # Output: "cherry" (negative index accesses from the end)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2.2. Modifying Elements: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Lists are mutable, meaning you can change their elements.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fruits = ["apple", "banana", "cherry"]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fruits[1] = "blueberry"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print(fruits)  # Output: ["apple", "blueberry", "cherry"]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3240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9047-164E-C49D-4F82-C93D58F90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Tuple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B39E0-9BFB-7E40-52DF-1351503A5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tuple is a collection of items that is ordered and immutable (i.e., cannot be modified after creation). Like lists, tuples can hold elements of different data types, but once a tuple is created, you cannot change its content. Tuples are often used to represent collections of items that should not change throughout the program.</a:t>
            </a:r>
          </a:p>
          <a:p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my_tuple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(item1, item2, item3, ...)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fruits = ("apple", "banana", "cherry")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mixed = (1, "apple", True, 3.5)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730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9047-164E-C49D-4F82-C93D58F90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B39E0-9BFB-7E40-52DF-1351503A5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3.1. Accessing Elements: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You can access tuple elements using indexing, just like lists.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fruits = ("apple", "banana", "cherry")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print(fruits[0])  # Output: "apple"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print(fruits[-1])  # Output: "cherry" (negative index accesses from the end)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3.2. Slicing a Tuple: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You can slice a tuple to extract a portion of it, similar to lists.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fruits = ("apple", "banana", "cherry", "orange", "grape")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print(fruits[1:4])  # Output: ("banana", "cherry", "orange")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print(fruits[:3])   # Output: ("apple", "banana", "cherry")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print(fruits[2:])   # Output: ("cherry", "orange", "grape")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7819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F799-D3B4-CE35-43FF-94EE34C7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Dictionary Data Type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dictionary</a:t>
            </a:r>
            <a:r>
              <a:rPr lang="en-US" dirty="0"/>
              <a:t> is a mutable, unordered collection of key-value pairs in Python. Each key is unique, and it is associated with a value. </a:t>
            </a:r>
          </a:p>
          <a:p>
            <a:r>
              <a:rPr lang="en-US" dirty="0"/>
              <a:t>The values can be of any data type, while the keys must be of an immutable data type such as strings, numbers, or tuples.</a:t>
            </a:r>
          </a:p>
          <a:p>
            <a:r>
              <a:rPr lang="en-US" dirty="0"/>
              <a:t>[]-list</a:t>
            </a:r>
          </a:p>
          <a:p>
            <a:r>
              <a:rPr lang="en-US" dirty="0"/>
              <a:t>()-tuple</a:t>
            </a:r>
          </a:p>
          <a:p>
            <a:r>
              <a:rPr lang="en-US" dirty="0"/>
              <a:t>{}-dictionary</a:t>
            </a:r>
          </a:p>
          <a:p>
            <a:r>
              <a:rPr lang="en-US" dirty="0" err="1"/>
              <a:t>dictionary_name</a:t>
            </a:r>
            <a:r>
              <a:rPr lang="en-US" dirty="0"/>
              <a:t> = { 'key1': 'value1', 'key2': 'value2', 'key3': 'value3' }</a:t>
            </a:r>
          </a:p>
        </p:txBody>
      </p:sp>
    </p:spTree>
    <p:extLst>
      <p:ext uri="{BB962C8B-B14F-4D97-AF65-F5344CB8AC3E}">
        <p14:creationId xmlns:p14="http://schemas.microsoft.com/office/powerpoint/2010/main" val="19477585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9047-164E-C49D-4F82-C93D58F90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B39E0-9BFB-7E40-52DF-1351503A5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4.1. Creating a Dictionary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my_dict</a:t>
            </a:r>
            <a:r>
              <a:rPr lang="en-US" dirty="0"/>
              <a:t> = {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'name’: ‘Reema',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'age': 25,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'city': ‘Dublin'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4.2. Accessing Values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You can access the values by referring to the key: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</a:t>
            </a:r>
            <a:r>
              <a:rPr lang="en-US" dirty="0" err="1"/>
              <a:t>my_dict</a:t>
            </a:r>
            <a:r>
              <a:rPr lang="en-US" dirty="0"/>
              <a:t>['name'])  # Output: Reema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Or using the .get() method: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</a:t>
            </a:r>
            <a:r>
              <a:rPr lang="en-US" dirty="0" err="1"/>
              <a:t>my_dict.get</a:t>
            </a:r>
            <a:r>
              <a:rPr lang="en-US" dirty="0"/>
              <a:t>('age'))  # Output: 25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2194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B19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A96F5A-9308-9163-D8D4-A1303C1B7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7738-646A-4E3C-FFEA-4CD1EE34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D0576-65EA-551D-3174-F92E53B19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5165" y="1867197"/>
            <a:ext cx="5326645" cy="4512339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1. Write a Python program to take </a:t>
            </a:r>
            <a:r>
              <a:rPr lang="en-US" b="1" dirty="0"/>
              <a:t>5 numbers</a:t>
            </a:r>
            <a:r>
              <a:rPr lang="en-US" dirty="0"/>
              <a:t> from the user and store them in a </a:t>
            </a:r>
            <a:r>
              <a:rPr lang="en-US" b="1" dirty="0"/>
              <a:t>list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Then:</a:t>
            </a:r>
          </a:p>
          <a:p>
            <a:r>
              <a:rPr lang="en-US" dirty="0"/>
              <a:t>Print the </a:t>
            </a:r>
            <a:r>
              <a:rPr lang="en-US" b="1" dirty="0"/>
              <a:t>largest</a:t>
            </a:r>
            <a:r>
              <a:rPr lang="en-US" dirty="0"/>
              <a:t> and </a:t>
            </a:r>
            <a:r>
              <a:rPr lang="en-US" b="1" dirty="0"/>
              <a:t>smallest</a:t>
            </a:r>
            <a:r>
              <a:rPr lang="en-US" dirty="0"/>
              <a:t> number from the list.</a:t>
            </a:r>
          </a:p>
          <a:p>
            <a:r>
              <a:rPr lang="en-US" dirty="0"/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pic>
        <p:nvPicPr>
          <p:cNvPr id="9" name="Picture 8" descr="A note on a piece of paper&#10;&#10;AI-generated content may be incorrect.">
            <a:extLst>
              <a:ext uri="{FF2B5EF4-FFF2-40B4-BE49-F238E27FC236}">
                <a16:creationId xmlns:a16="http://schemas.microsoft.com/office/drawing/2014/main" id="{EF744561-4C2B-4C73-2B5D-D4C963BDB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0946" y="1"/>
            <a:ext cx="2461053" cy="186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353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9047-164E-C49D-4F82-C93D58F90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B39E0-9BFB-7E40-52DF-1351503A5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A function is a reusable block of code that performs a specific task.</a:t>
            </a:r>
          </a:p>
          <a:p>
            <a:r>
              <a:rPr lang="en-US" dirty="0"/>
              <a:t>def greet():</a:t>
            </a:r>
          </a:p>
          <a:p>
            <a:r>
              <a:rPr lang="en-US" dirty="0"/>
              <a:t>    print("Hello!")</a:t>
            </a:r>
          </a:p>
          <a:p>
            <a:r>
              <a:rPr lang="en-US" dirty="0"/>
              <a:t>greet()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9FE50-E91A-7D71-C8A3-3DEAC481E636}"/>
              </a:ext>
            </a:extLst>
          </p:cNvPr>
          <p:cNvSpPr txBox="1"/>
          <p:nvPr/>
        </p:nvSpPr>
        <p:spPr>
          <a:xfrm>
            <a:off x="9107739" y="4583301"/>
            <a:ext cx="27163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def add(a, b):</a:t>
            </a:r>
          </a:p>
          <a:p>
            <a:r>
              <a:rPr lang="en-US" sz="2400" dirty="0"/>
              <a:t>    return a + b</a:t>
            </a:r>
          </a:p>
          <a:p>
            <a:r>
              <a:rPr lang="en-US" sz="2400" dirty="0"/>
              <a:t>print(add(5, 3))</a:t>
            </a:r>
          </a:p>
        </p:txBody>
      </p:sp>
    </p:spTree>
    <p:extLst>
      <p:ext uri="{BB962C8B-B14F-4D97-AF65-F5344CB8AC3E}">
        <p14:creationId xmlns:p14="http://schemas.microsoft.com/office/powerpoint/2010/main" val="36386239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AA162-0162-D48D-4B5C-8851F43D2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C44D5-9109-2005-7FF1-2EE4921E1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def </a:t>
            </a:r>
            <a:r>
              <a:rPr lang="en-US" dirty="0" err="1">
                <a:highlight>
                  <a:srgbClr val="FFFF00"/>
                </a:highlight>
              </a:rPr>
              <a:t>check_even_odd</a:t>
            </a:r>
            <a:r>
              <a:rPr lang="en-US" dirty="0">
                <a:highlight>
                  <a:srgbClr val="FFFF00"/>
                </a:highlight>
              </a:rPr>
              <a:t>(num):</a:t>
            </a:r>
          </a:p>
          <a:p>
            <a:r>
              <a:rPr lang="en-US" dirty="0">
                <a:highlight>
                  <a:srgbClr val="FFFF00"/>
                </a:highlight>
              </a:rPr>
              <a:t>    if num % 2 == 0:</a:t>
            </a:r>
          </a:p>
          <a:p>
            <a:r>
              <a:rPr lang="en-US" dirty="0">
                <a:highlight>
                  <a:srgbClr val="FFFF00"/>
                </a:highlight>
              </a:rPr>
              <a:t>        return f"{num} is Even"</a:t>
            </a:r>
          </a:p>
          <a:p>
            <a:r>
              <a:rPr lang="en-US" dirty="0">
                <a:highlight>
                  <a:srgbClr val="FFFF00"/>
                </a:highlight>
              </a:rPr>
              <a:t>    else:</a:t>
            </a:r>
          </a:p>
          <a:p>
            <a:r>
              <a:rPr lang="en-US" dirty="0">
                <a:highlight>
                  <a:srgbClr val="FFFF00"/>
                </a:highlight>
              </a:rPr>
              <a:t>        return f"{num} is Odd"</a:t>
            </a:r>
          </a:p>
          <a:p>
            <a:endParaRPr lang="en-US" dirty="0"/>
          </a:p>
          <a:p>
            <a:r>
              <a:rPr lang="en-US" dirty="0">
                <a:highlight>
                  <a:srgbClr val="00FFFF"/>
                </a:highlight>
              </a:rPr>
              <a:t># calling the function inside a loop</a:t>
            </a:r>
          </a:p>
          <a:p>
            <a:r>
              <a:rPr lang="en-US" dirty="0">
                <a:highlight>
                  <a:srgbClr val="00FFFF"/>
                </a:highlight>
              </a:rPr>
              <a:t>for </a:t>
            </a:r>
            <a:r>
              <a:rPr lang="en-US" dirty="0" err="1">
                <a:highlight>
                  <a:srgbClr val="00FFFF"/>
                </a:highlight>
              </a:rPr>
              <a:t>i</a:t>
            </a:r>
            <a:r>
              <a:rPr lang="en-US" dirty="0">
                <a:highlight>
                  <a:srgbClr val="00FFFF"/>
                </a:highlight>
              </a:rPr>
              <a:t> in range(1, 6):</a:t>
            </a:r>
          </a:p>
          <a:p>
            <a:r>
              <a:rPr lang="en-US" dirty="0">
                <a:highlight>
                  <a:srgbClr val="00FFFF"/>
                </a:highlight>
              </a:rPr>
              <a:t>    print(</a:t>
            </a:r>
            <a:r>
              <a:rPr lang="en-US" dirty="0" err="1">
                <a:highlight>
                  <a:srgbClr val="00FFFF"/>
                </a:highlight>
              </a:rPr>
              <a:t>check_even_odd</a:t>
            </a:r>
            <a:r>
              <a:rPr lang="en-US" dirty="0">
                <a:highlight>
                  <a:srgbClr val="00FFFF"/>
                </a:highlight>
              </a:rPr>
              <a:t>(</a:t>
            </a:r>
            <a:r>
              <a:rPr lang="en-US" dirty="0" err="1">
                <a:highlight>
                  <a:srgbClr val="00FFFF"/>
                </a:highlight>
              </a:rPr>
              <a:t>i</a:t>
            </a:r>
            <a:r>
              <a:rPr lang="en-US" dirty="0">
                <a:highlight>
                  <a:srgbClr val="00FFFF"/>
                </a:highlight>
              </a:rPr>
              <a:t>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1906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A475-2DE6-3D75-96ED-CAB469110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9D8A7-D372-FC2C-B67C-0750A193D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Python, a </a:t>
            </a:r>
            <a:r>
              <a:rPr lang="en-US" b="1" dirty="0"/>
              <a:t>module</a:t>
            </a:r>
            <a:r>
              <a:rPr lang="en-US" dirty="0"/>
              <a:t> is simply a </a:t>
            </a:r>
            <a:r>
              <a:rPr lang="en-US" b="1" dirty="0"/>
              <a:t>file containing Python code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can include:</a:t>
            </a:r>
          </a:p>
          <a:p>
            <a:r>
              <a:rPr lang="en-US" dirty="0"/>
              <a:t>Functions</a:t>
            </a:r>
          </a:p>
          <a:p>
            <a:r>
              <a:rPr lang="en-US" dirty="0"/>
              <a:t>Classes</a:t>
            </a:r>
          </a:p>
          <a:p>
            <a:r>
              <a:rPr lang="en-US" dirty="0"/>
              <a:t>Variables</a:t>
            </a:r>
          </a:p>
          <a:p>
            <a:r>
              <a:rPr lang="en-US" dirty="0"/>
              <a:t>Executable statements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4332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94FA2-C930-77DE-655F-FF3DF160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367AA-85E5-361E-DFA3-399B87D9E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1. Built-in modules</a:t>
            </a:r>
          </a:p>
          <a:p>
            <a:r>
              <a:rPr lang="en-US" dirty="0"/>
              <a:t>Provided by Python</a:t>
            </a:r>
            <a:br>
              <a:rPr lang="en-US" dirty="0"/>
            </a:br>
            <a:r>
              <a:rPr lang="en-US" dirty="0"/>
              <a:t>Examples: math, </a:t>
            </a:r>
            <a:r>
              <a:rPr lang="en-US" dirty="0" err="1"/>
              <a:t>os</a:t>
            </a:r>
            <a:r>
              <a:rPr lang="en-US" dirty="0"/>
              <a:t>, sys</a:t>
            </a:r>
          </a:p>
          <a:p>
            <a:r>
              <a:rPr lang="en-US" b="1" dirty="0"/>
              <a:t>2. Third-party modules</a:t>
            </a:r>
          </a:p>
          <a:p>
            <a:r>
              <a:rPr lang="en-US" dirty="0"/>
              <a:t>You install using pip</a:t>
            </a:r>
            <a:br>
              <a:rPr lang="en-US" dirty="0"/>
            </a:br>
            <a:r>
              <a:rPr lang="en-US" dirty="0"/>
              <a:t>Examples:</a:t>
            </a:r>
          </a:p>
          <a:p>
            <a:r>
              <a:rPr lang="en-US" dirty="0" err="1"/>
              <a:t>numpy</a:t>
            </a:r>
            <a:endParaRPr lang="en-US" dirty="0"/>
          </a:p>
          <a:p>
            <a:r>
              <a:rPr lang="en-US" dirty="0"/>
              <a:t>pandas</a:t>
            </a:r>
          </a:p>
          <a:p>
            <a:r>
              <a:rPr lang="en-US" dirty="0"/>
              <a:t>requests</a:t>
            </a:r>
          </a:p>
          <a:p>
            <a:r>
              <a:rPr lang="en-US" dirty="0">
                <a:highlight>
                  <a:srgbClr val="FFFF00"/>
                </a:highlight>
              </a:rPr>
              <a:t>3. </a:t>
            </a:r>
            <a:r>
              <a:rPr lang="en-US" b="1" dirty="0">
                <a:highlight>
                  <a:srgbClr val="FFFF00"/>
                </a:highlight>
              </a:rPr>
              <a:t>User-defined modules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81446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9047-164E-C49D-4F82-C93D58F90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*</a:t>
            </a:r>
            <a:r>
              <a:rPr lang="en-US" dirty="0" err="1"/>
              <a:t>args</a:t>
            </a:r>
            <a:r>
              <a:rPr lang="en-US" dirty="0"/>
              <a:t> &amp; </a:t>
            </a:r>
            <a:r>
              <a:rPr lang="en-US" b="1" dirty="0" err="1"/>
              <a:t>kwargs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B39E0-9BFB-7E40-52DF-1351503A5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</a:t>
            </a:r>
            <a:r>
              <a:rPr lang="en-US" dirty="0" err="1"/>
              <a:t>args</a:t>
            </a:r>
            <a:r>
              <a:rPr lang="en-US" dirty="0"/>
              <a:t> allows passing multiple positional arguments; **</a:t>
            </a:r>
            <a:r>
              <a:rPr lang="en-US" dirty="0" err="1"/>
              <a:t>kwargs</a:t>
            </a:r>
            <a:r>
              <a:rPr lang="en-US" dirty="0"/>
              <a:t> allows multiple keyword arguments.</a:t>
            </a:r>
          </a:p>
          <a:p>
            <a:r>
              <a:rPr lang="en-US" dirty="0"/>
              <a:t>def total(*</a:t>
            </a:r>
            <a:r>
              <a:rPr lang="en-US" dirty="0" err="1"/>
              <a:t>nums</a:t>
            </a:r>
            <a:r>
              <a:rPr lang="en-US" dirty="0"/>
              <a:t>):</a:t>
            </a:r>
          </a:p>
          <a:p>
            <a:r>
              <a:rPr lang="en-US" dirty="0"/>
              <a:t>    print(sum(</a:t>
            </a:r>
            <a:r>
              <a:rPr lang="en-US" dirty="0" err="1"/>
              <a:t>nums</a:t>
            </a:r>
            <a:r>
              <a:rPr lang="en-US" dirty="0"/>
              <a:t>))</a:t>
            </a:r>
          </a:p>
          <a:p>
            <a:r>
              <a:rPr lang="en-US" dirty="0"/>
              <a:t>total(1, 2, 3)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A7F715-A533-9A0F-5F4E-8973BF5A07B2}"/>
              </a:ext>
            </a:extLst>
          </p:cNvPr>
          <p:cNvSpPr txBox="1"/>
          <p:nvPr/>
        </p:nvSpPr>
        <p:spPr>
          <a:xfrm>
            <a:off x="6881648" y="4778792"/>
            <a:ext cx="520104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def info(**data):</a:t>
            </a:r>
          </a:p>
          <a:p>
            <a:r>
              <a:rPr lang="en-US" sz="2800" dirty="0"/>
              <a:t>    print(data)</a:t>
            </a:r>
          </a:p>
          <a:p>
            <a:r>
              <a:rPr lang="en-US" sz="2800" dirty="0"/>
              <a:t>info(name=“Harmeet", age=25)</a:t>
            </a:r>
          </a:p>
        </p:txBody>
      </p:sp>
    </p:spTree>
    <p:extLst>
      <p:ext uri="{BB962C8B-B14F-4D97-AF65-F5344CB8AC3E}">
        <p14:creationId xmlns:p14="http://schemas.microsoft.com/office/powerpoint/2010/main" val="32885023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9047-164E-C49D-4F82-C93D58F90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B39E0-9BFB-7E40-52DF-1351503A5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Decorators in Python are a </a:t>
            </a:r>
            <a:r>
              <a:rPr lang="en-US" b="1" dirty="0"/>
              <a:t>powerful feature</a:t>
            </a:r>
            <a:r>
              <a:rPr lang="en-US" dirty="0"/>
              <a:t> that allow you to </a:t>
            </a:r>
            <a:r>
              <a:rPr lang="en-US" b="1" dirty="0"/>
              <a:t>add new functionality to an existing function</a:t>
            </a:r>
            <a:r>
              <a:rPr lang="en-US" dirty="0"/>
              <a:t> </a:t>
            </a:r>
            <a:r>
              <a:rPr lang="en-US" i="1" dirty="0"/>
              <a:t>without modifying its actual code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decorator_function</a:t>
            </a:r>
            <a:r>
              <a:rPr lang="en-US" dirty="0"/>
              <a:t>(</a:t>
            </a:r>
            <a:r>
              <a:rPr lang="en-US" dirty="0" err="1"/>
              <a:t>original_function</a:t>
            </a:r>
            <a:r>
              <a:rPr lang="en-US" dirty="0"/>
              <a:t>):</a:t>
            </a:r>
          </a:p>
          <a:p>
            <a:r>
              <a:rPr lang="en-US" dirty="0"/>
              <a:t>    def wrapper():</a:t>
            </a:r>
          </a:p>
          <a:p>
            <a:r>
              <a:rPr lang="en-US" dirty="0"/>
              <a:t>        # Code to run before the original function</a:t>
            </a:r>
          </a:p>
          <a:p>
            <a:r>
              <a:rPr lang="en-US" dirty="0"/>
              <a:t>        </a:t>
            </a:r>
            <a:r>
              <a:rPr lang="en-US" dirty="0" err="1"/>
              <a:t>original_function</a:t>
            </a:r>
            <a:r>
              <a:rPr lang="en-US" dirty="0"/>
              <a:t>()</a:t>
            </a:r>
          </a:p>
          <a:p>
            <a:r>
              <a:rPr lang="en-US" dirty="0"/>
              <a:t>        # Code to run after the original function</a:t>
            </a:r>
          </a:p>
          <a:p>
            <a:r>
              <a:rPr lang="en-US" dirty="0"/>
              <a:t>    return wrapper</a:t>
            </a:r>
          </a:p>
        </p:txBody>
      </p:sp>
    </p:spTree>
    <p:extLst>
      <p:ext uri="{BB962C8B-B14F-4D97-AF65-F5344CB8AC3E}">
        <p14:creationId xmlns:p14="http://schemas.microsoft.com/office/powerpoint/2010/main" val="14931755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FAC34-FD6C-1062-98AE-C98DAA955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453657"/>
            <a:ext cx="10119360" cy="5415436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r>
              <a:rPr lang="en-US" dirty="0"/>
              <a:t>def </a:t>
            </a:r>
            <a:r>
              <a:rPr lang="en-US" dirty="0" err="1"/>
              <a:t>my_decorator</a:t>
            </a:r>
            <a:r>
              <a:rPr lang="en-US" dirty="0"/>
              <a:t>(</a:t>
            </a:r>
            <a:r>
              <a:rPr lang="en-US" dirty="0" err="1"/>
              <a:t>func</a:t>
            </a:r>
            <a:r>
              <a:rPr lang="en-US" dirty="0"/>
              <a:t>):</a:t>
            </a:r>
          </a:p>
          <a:p>
            <a:r>
              <a:rPr lang="en-US" dirty="0"/>
              <a:t>    def wrapper():</a:t>
            </a:r>
          </a:p>
          <a:p>
            <a:r>
              <a:rPr lang="en-US" dirty="0"/>
              <a:t>        print("Before function execution")</a:t>
            </a:r>
          </a:p>
          <a:p>
            <a:r>
              <a:rPr lang="en-US" dirty="0"/>
              <a:t>        </a:t>
            </a:r>
            <a:r>
              <a:rPr lang="en-US" dirty="0" err="1"/>
              <a:t>func</a:t>
            </a:r>
            <a:r>
              <a:rPr lang="en-US" dirty="0"/>
              <a:t>()</a:t>
            </a:r>
          </a:p>
          <a:p>
            <a:r>
              <a:rPr lang="en-US" dirty="0"/>
              <a:t>        print("After function execution")</a:t>
            </a:r>
          </a:p>
          <a:p>
            <a:r>
              <a:rPr lang="en-US" dirty="0"/>
              <a:t>    return wrapper</a:t>
            </a:r>
          </a:p>
          <a:p>
            <a:endParaRPr lang="en-US" dirty="0"/>
          </a:p>
          <a:p>
            <a:r>
              <a:rPr lang="en-US" dirty="0"/>
              <a:t>@my_decorator</a:t>
            </a:r>
          </a:p>
          <a:p>
            <a:r>
              <a:rPr lang="en-US" dirty="0"/>
              <a:t>def </a:t>
            </a:r>
            <a:r>
              <a:rPr lang="en-US" dirty="0" err="1"/>
              <a:t>say_hello</a:t>
            </a:r>
            <a:r>
              <a:rPr lang="en-US" dirty="0"/>
              <a:t>():</a:t>
            </a:r>
          </a:p>
          <a:p>
            <a:r>
              <a:rPr lang="en-US" dirty="0"/>
              <a:t>    print("Hello!")</a:t>
            </a:r>
          </a:p>
          <a:p>
            <a:endParaRPr lang="en-US" dirty="0"/>
          </a:p>
          <a:p>
            <a:r>
              <a:rPr lang="en-US" dirty="0" err="1"/>
              <a:t>say_hello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0565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E031F-4DE1-0FAC-BB11-4A000DDF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Programming (OOP)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9E059-04B8-C8B4-C354-2ABEB45C1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3417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08C93-BD7D-C428-D7C6-F6C652ADE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609FD-78F6-F1BE-0FDF-21DF98F78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Object-Oriented Programming (OOP) in Python is a paradigm that uses objects and classes to structure code in a way that models real-world entities. </a:t>
            </a:r>
          </a:p>
          <a:p>
            <a:endParaRPr lang="en-US" dirty="0"/>
          </a:p>
          <a:p>
            <a:r>
              <a:rPr lang="en-US" dirty="0"/>
              <a:t>It allows for the creation of reusable and modular code by bundling related data and behaviors together.</a:t>
            </a:r>
          </a:p>
        </p:txBody>
      </p:sp>
    </p:spTree>
    <p:extLst>
      <p:ext uri="{BB962C8B-B14F-4D97-AF65-F5344CB8AC3E}">
        <p14:creationId xmlns:p14="http://schemas.microsoft.com/office/powerpoint/2010/main" val="24058373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F799-D3B4-CE35-43FF-94EE34C7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Concepts of OOP in Python: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1786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F799-D3B4-CE35-43FF-94EE34C7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Classes and Objects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Class</a:t>
            </a:r>
            <a:r>
              <a:rPr lang="en-US" dirty="0"/>
              <a:t>: A blueprint for creating objects. It defines the structure and behaviors (methods) that the objects created from the class will have.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</a:t>
            </a:r>
            <a:r>
              <a:rPr lang="en-US" dirty="0"/>
              <a:t>: An instance(copy) of a class. It can have attributes (data) and methods (functions) associated with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3100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3D548-0005-48D1-B5A4-B074A109B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547F5-725B-FDD3-257F-72BE86A2D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Demo:</a:t>
            </a:r>
          </a:p>
          <a:p>
            <a:r>
              <a:rPr lang="en-US" dirty="0">
                <a:highlight>
                  <a:srgbClr val="FFFF00"/>
                </a:highlight>
              </a:rPr>
              <a:t>    def __</a:t>
            </a:r>
            <a:r>
              <a:rPr lang="en-US" dirty="0" err="1">
                <a:highlight>
                  <a:srgbClr val="FFFF00"/>
                </a:highlight>
              </a:rPr>
              <a:t>init</a:t>
            </a:r>
            <a:r>
              <a:rPr lang="en-US" dirty="0">
                <a:highlight>
                  <a:srgbClr val="FFFF00"/>
                </a:highlight>
              </a:rPr>
              <a:t>__(self):</a:t>
            </a:r>
          </a:p>
          <a:p>
            <a:r>
              <a:rPr lang="en-US" dirty="0">
                <a:highlight>
                  <a:srgbClr val="FFFF00"/>
                </a:highlight>
              </a:rPr>
              <a:t>        print("welcome to special function")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    </a:t>
            </a:r>
            <a:r>
              <a:rPr lang="en-US" dirty="0">
                <a:highlight>
                  <a:srgbClr val="00FFFF"/>
                </a:highlight>
              </a:rPr>
              <a:t>def display(self):</a:t>
            </a:r>
          </a:p>
          <a:p>
            <a:r>
              <a:rPr lang="en-US" dirty="0">
                <a:highlight>
                  <a:srgbClr val="00FFFF"/>
                </a:highlight>
              </a:rPr>
              <a:t>        print("welcome to display function")</a:t>
            </a:r>
          </a:p>
          <a:p>
            <a:endParaRPr lang="en-US" dirty="0">
              <a:highlight>
                <a:srgbClr val="00FFFF"/>
              </a:highlight>
            </a:endParaRPr>
          </a:p>
          <a:p>
            <a:r>
              <a:rPr lang="en-US" dirty="0"/>
              <a:t># Creating an object</a:t>
            </a:r>
          </a:p>
          <a:p>
            <a:r>
              <a:rPr lang="en-US" dirty="0" err="1"/>
              <a:t>my_demo</a:t>
            </a:r>
            <a:r>
              <a:rPr lang="en-US" dirty="0"/>
              <a:t> = Demo()</a:t>
            </a:r>
          </a:p>
          <a:p>
            <a:r>
              <a:rPr lang="en-US" dirty="0" err="1"/>
              <a:t>my_demo.display</a:t>
            </a:r>
            <a:r>
              <a:rPr lang="en-US" dirty="0"/>
              <a:t>()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9893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02" y="748703"/>
            <a:ext cx="10523578" cy="512039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class Car:</a:t>
            </a:r>
          </a:p>
          <a:p>
            <a:r>
              <a:rPr lang="en-US" b="1" dirty="0"/>
              <a:t>    </a:t>
            </a:r>
            <a:r>
              <a:rPr lang="en-US" b="1" dirty="0">
                <a:highlight>
                  <a:srgbClr val="FFFF00"/>
                </a:highlight>
              </a:rPr>
              <a:t>def __</a:t>
            </a:r>
            <a:r>
              <a:rPr lang="en-US" b="1" dirty="0" err="1">
                <a:highlight>
                  <a:srgbClr val="FFFF00"/>
                </a:highlight>
              </a:rPr>
              <a:t>init</a:t>
            </a:r>
            <a:r>
              <a:rPr lang="en-US" b="1" dirty="0">
                <a:highlight>
                  <a:srgbClr val="FFFF00"/>
                </a:highlight>
              </a:rPr>
              <a:t>__(self, brand, model, year):</a:t>
            </a:r>
          </a:p>
          <a:p>
            <a:r>
              <a:rPr lang="en-US" b="1" dirty="0">
                <a:highlight>
                  <a:srgbClr val="FFFF00"/>
                </a:highlight>
              </a:rPr>
              <a:t>        </a:t>
            </a:r>
            <a:r>
              <a:rPr lang="en-US" b="1" dirty="0" err="1">
                <a:highlight>
                  <a:srgbClr val="FFFF00"/>
                </a:highlight>
              </a:rPr>
              <a:t>self.brand</a:t>
            </a:r>
            <a:r>
              <a:rPr lang="en-US" b="1" dirty="0">
                <a:highlight>
                  <a:srgbClr val="FFFF00"/>
                </a:highlight>
              </a:rPr>
              <a:t> = brand</a:t>
            </a:r>
          </a:p>
          <a:p>
            <a:r>
              <a:rPr lang="en-US" b="1" dirty="0">
                <a:highlight>
                  <a:srgbClr val="FFFF00"/>
                </a:highlight>
              </a:rPr>
              <a:t>        </a:t>
            </a:r>
            <a:r>
              <a:rPr lang="en-US" b="1" dirty="0" err="1">
                <a:highlight>
                  <a:srgbClr val="FFFF00"/>
                </a:highlight>
              </a:rPr>
              <a:t>self.model</a:t>
            </a:r>
            <a:r>
              <a:rPr lang="en-US" b="1" dirty="0">
                <a:highlight>
                  <a:srgbClr val="FFFF00"/>
                </a:highlight>
              </a:rPr>
              <a:t> = model</a:t>
            </a:r>
          </a:p>
          <a:p>
            <a:r>
              <a:rPr lang="en-US" b="1" dirty="0">
                <a:highlight>
                  <a:srgbClr val="FFFF00"/>
                </a:highlight>
              </a:rPr>
              <a:t>        </a:t>
            </a:r>
            <a:r>
              <a:rPr lang="en-US" b="1" dirty="0" err="1">
                <a:highlight>
                  <a:srgbClr val="FFFF00"/>
                </a:highlight>
              </a:rPr>
              <a:t>self.year</a:t>
            </a:r>
            <a:r>
              <a:rPr lang="en-US" b="1" dirty="0">
                <a:highlight>
                  <a:srgbClr val="FFFF00"/>
                </a:highlight>
              </a:rPr>
              <a:t> = year</a:t>
            </a:r>
          </a:p>
          <a:p>
            <a:r>
              <a:rPr lang="en-US" b="1" dirty="0"/>
              <a:t>    </a:t>
            </a:r>
            <a:r>
              <a:rPr lang="en-US" b="1" dirty="0">
                <a:highlight>
                  <a:srgbClr val="00FFFF"/>
                </a:highlight>
              </a:rPr>
              <a:t>def start(self):</a:t>
            </a:r>
          </a:p>
          <a:p>
            <a:r>
              <a:rPr lang="en-US" b="1" dirty="0">
                <a:highlight>
                  <a:srgbClr val="00FFFF"/>
                </a:highlight>
              </a:rPr>
              <a:t>        print(</a:t>
            </a:r>
            <a:r>
              <a:rPr lang="en-US" b="1" dirty="0" err="1">
                <a:highlight>
                  <a:srgbClr val="00FFFF"/>
                </a:highlight>
              </a:rPr>
              <a:t>f"The</a:t>
            </a:r>
            <a:r>
              <a:rPr lang="en-US" b="1" dirty="0">
                <a:highlight>
                  <a:srgbClr val="00FFFF"/>
                </a:highlight>
              </a:rPr>
              <a:t> {</a:t>
            </a:r>
            <a:r>
              <a:rPr lang="en-US" b="1" dirty="0" err="1">
                <a:highlight>
                  <a:srgbClr val="00FFFF"/>
                </a:highlight>
              </a:rPr>
              <a:t>self.brand</a:t>
            </a:r>
            <a:r>
              <a:rPr lang="en-US" b="1" dirty="0">
                <a:highlight>
                  <a:srgbClr val="00FFFF"/>
                </a:highlight>
              </a:rPr>
              <a:t>} {</a:t>
            </a:r>
            <a:r>
              <a:rPr lang="en-US" b="1" dirty="0" err="1">
                <a:highlight>
                  <a:srgbClr val="00FFFF"/>
                </a:highlight>
              </a:rPr>
              <a:t>self.model</a:t>
            </a:r>
            <a:r>
              <a:rPr lang="en-US" b="1" dirty="0">
                <a:highlight>
                  <a:srgbClr val="00FFFF"/>
                </a:highlight>
              </a:rPr>
              <a:t>} starts.")</a:t>
            </a:r>
          </a:p>
          <a:p>
            <a:endParaRPr lang="en-US" b="1" dirty="0"/>
          </a:p>
          <a:p>
            <a:r>
              <a:rPr lang="en-US" b="1" dirty="0"/>
              <a:t># Creating an object</a:t>
            </a:r>
          </a:p>
          <a:p>
            <a:r>
              <a:rPr lang="en-US" b="1" dirty="0" err="1"/>
              <a:t>my_car</a:t>
            </a:r>
            <a:r>
              <a:rPr lang="en-US" b="1" dirty="0"/>
              <a:t> = Car("Toyota", "Corolla", 2021)</a:t>
            </a:r>
          </a:p>
          <a:p>
            <a:r>
              <a:rPr lang="en-US" b="1" dirty="0" err="1"/>
              <a:t>my_car.start</a:t>
            </a:r>
            <a:r>
              <a:rPr lang="en-US" b="1" dirty="0"/>
              <a:t>()  # Output: The Toyota Corolla starts.</a:t>
            </a:r>
          </a:p>
          <a:p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A2FF83-5739-AE20-F8B3-F42111993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7008" y="286603"/>
            <a:ext cx="3938671" cy="1450757"/>
          </a:xfrm>
        </p:spPr>
        <p:txBody>
          <a:bodyPr/>
          <a:lstStyle/>
          <a:p>
            <a:r>
              <a:rPr lang="en-US" dirty="0"/>
              <a:t>Example #2</a:t>
            </a:r>
          </a:p>
        </p:txBody>
      </p:sp>
    </p:spTree>
    <p:extLst>
      <p:ext uri="{BB962C8B-B14F-4D97-AF65-F5344CB8AC3E}">
        <p14:creationId xmlns:p14="http://schemas.microsoft.com/office/powerpoint/2010/main" val="41375419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02" y="748703"/>
            <a:ext cx="10523578" cy="5120390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 Customer: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 __</a:t>
            </a:r>
            <a:r>
              <a:rPr lang="en-US" sz="1800" kern="100" dirty="0" err="1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init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__(self, name, age, email):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self.name = 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self.age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age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self.email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email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 </a:t>
            </a:r>
            <a:r>
              <a:rPr lang="en-US" sz="1800" kern="100" dirty="0" err="1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display_details</a:t>
            </a: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(self):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</a:t>
            </a:r>
            <a:r>
              <a:rPr lang="en-US" sz="1800" kern="100" dirty="0" err="1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f"Customer</a:t>
            </a: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Name: {self.name}")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</a:t>
            </a:r>
            <a:r>
              <a:rPr lang="en-US" sz="1800" kern="100" dirty="0" err="1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f"Age</a:t>
            </a: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{</a:t>
            </a:r>
            <a:r>
              <a:rPr lang="en-US" sz="1800" kern="100" dirty="0" err="1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self.age</a:t>
            </a: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}")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</a:t>
            </a:r>
            <a:r>
              <a:rPr lang="en-US" sz="1800" kern="100" dirty="0" err="1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f"Email</a:t>
            </a: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{</a:t>
            </a:r>
            <a:r>
              <a:rPr lang="en-US" sz="1800" kern="100" dirty="0" err="1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self.email</a:t>
            </a: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}")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>
                <a:effectLst/>
                <a:highlight>
                  <a:srgbClr val="C0C0C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 </a:t>
            </a:r>
            <a:r>
              <a:rPr lang="en-US" sz="1800" kern="100" dirty="0" err="1">
                <a:effectLst/>
                <a:highlight>
                  <a:srgbClr val="C0C0C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place_order</a:t>
            </a:r>
            <a:r>
              <a:rPr lang="en-US" sz="1800" kern="100" dirty="0">
                <a:effectLst/>
                <a:highlight>
                  <a:srgbClr val="C0C0C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(self, item):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C0C0C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print(f"{self.name} placed an order for {item}.")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Creating an object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customer_1 = Customer(“Reema", 30, “reema@india.com")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Display customer details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customer_1.display_details()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Place an order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customer_1.place_order("Laptop")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8825B4-C079-037A-B7AE-9A36B04A8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7008" y="286603"/>
            <a:ext cx="3938671" cy="1450757"/>
          </a:xfrm>
        </p:spPr>
        <p:txBody>
          <a:bodyPr/>
          <a:lstStyle/>
          <a:p>
            <a:r>
              <a:rPr lang="en-US" dirty="0"/>
              <a:t>Example #3</a:t>
            </a:r>
          </a:p>
        </p:txBody>
      </p:sp>
    </p:spTree>
    <p:extLst>
      <p:ext uri="{BB962C8B-B14F-4D97-AF65-F5344CB8AC3E}">
        <p14:creationId xmlns:p14="http://schemas.microsoft.com/office/powerpoint/2010/main" val="30646021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07218-0A3C-AEBF-84BD-6BC1BE0FD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052" y="382772"/>
            <a:ext cx="10028628" cy="5486321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class Customer: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def </a:t>
            </a:r>
            <a:r>
              <a:rPr lang="en-US" dirty="0" err="1"/>
              <a:t>display_details</a:t>
            </a:r>
            <a:r>
              <a:rPr lang="en-US" dirty="0"/>
              <a:t>(self):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print(</a:t>
            </a:r>
            <a:r>
              <a:rPr lang="en-US" dirty="0" err="1"/>
              <a:t>f"Customer</a:t>
            </a:r>
            <a:r>
              <a:rPr lang="en-US" dirty="0"/>
              <a:t> Name: {self.name}")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print(</a:t>
            </a:r>
            <a:r>
              <a:rPr lang="en-US" dirty="0" err="1"/>
              <a:t>f"Age</a:t>
            </a:r>
            <a:r>
              <a:rPr lang="en-US" dirty="0"/>
              <a:t>: {</a:t>
            </a:r>
            <a:r>
              <a:rPr lang="en-US" dirty="0" err="1"/>
              <a:t>self.age</a:t>
            </a:r>
            <a:r>
              <a:rPr lang="en-US" dirty="0"/>
              <a:t>}")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print(</a:t>
            </a:r>
            <a:r>
              <a:rPr lang="en-US" dirty="0" err="1"/>
              <a:t>f"Email</a:t>
            </a:r>
            <a:r>
              <a:rPr lang="en-US" dirty="0"/>
              <a:t>: {</a:t>
            </a:r>
            <a:r>
              <a:rPr lang="en-US" dirty="0" err="1"/>
              <a:t>self.email</a:t>
            </a:r>
            <a:r>
              <a:rPr lang="en-US" dirty="0"/>
              <a:t>}")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def </a:t>
            </a:r>
            <a:r>
              <a:rPr lang="en-US" dirty="0" err="1"/>
              <a:t>accept_details</a:t>
            </a:r>
            <a:r>
              <a:rPr lang="en-US" dirty="0"/>
              <a:t>(self):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self.name=input("Enter Your Name")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</a:t>
            </a:r>
            <a:r>
              <a:rPr lang="en-US" dirty="0" err="1"/>
              <a:t>self.age</a:t>
            </a:r>
            <a:r>
              <a:rPr lang="en-US" dirty="0"/>
              <a:t>=int(input("Enter Your Age"))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</a:t>
            </a:r>
            <a:r>
              <a:rPr lang="en-US" dirty="0" err="1"/>
              <a:t>self.email</a:t>
            </a:r>
            <a:r>
              <a:rPr lang="en-US" dirty="0"/>
              <a:t>=input("Enter Your </a:t>
            </a:r>
            <a:r>
              <a:rPr lang="en-US" dirty="0" err="1"/>
              <a:t>EMail</a:t>
            </a:r>
            <a:r>
              <a:rPr lang="en-US" dirty="0"/>
              <a:t>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def </a:t>
            </a:r>
            <a:r>
              <a:rPr lang="en-US" dirty="0" err="1"/>
              <a:t>place_order</a:t>
            </a:r>
            <a:r>
              <a:rPr lang="en-US" dirty="0"/>
              <a:t>(self, item):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#self.name=item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print(f"{self.name} placed an order for {item}.")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customer_1 = Customer()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customer_1.accept_details()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customer_1.display_details()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customer_1.place_order("Laptop")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358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F799-D3B4-CE35-43FF-94EE34C7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Encapsulation is the concept of bundling data (attributes) and methods (functions) that operate on the data into a single unit (class). </a:t>
            </a:r>
          </a:p>
          <a:p>
            <a:pPr algn="just"/>
            <a:r>
              <a:rPr lang="en-US" dirty="0"/>
              <a:t>It also involves controlling access to the data to prevent unauthorized modifications.</a:t>
            </a:r>
          </a:p>
          <a:p>
            <a:pPr algn="just"/>
            <a:r>
              <a:rPr lang="en-US" dirty="0"/>
              <a:t>In Python, attributes can be made private by prefixing their names with a double underscore (__).</a:t>
            </a:r>
          </a:p>
        </p:txBody>
      </p:sp>
    </p:spTree>
    <p:extLst>
      <p:ext uri="{BB962C8B-B14F-4D97-AF65-F5344CB8AC3E}">
        <p14:creationId xmlns:p14="http://schemas.microsoft.com/office/powerpoint/2010/main" val="20508356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F799-D3B4-CE35-43FF-94EE34C7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 Person: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def __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__(self, name, age):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self.__name</a:t>
            </a: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name 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self.age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age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def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display_info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(self):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f"Name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{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self.__name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}, Age: {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self.age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}")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def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set_name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(self, name):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self.__name</a:t>
            </a: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 = Person("John", 30)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person.age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en-US" sz="1800" kern="100" dirty="0" err="1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person.__name</a:t>
            </a: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572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F799-D3B4-CE35-43FF-94EE34C7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Inheritance</a:t>
            </a:r>
            <a:r>
              <a:rPr lang="en-US" dirty="0"/>
              <a:t>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6C47-08E1-66F8-8945-C70CE806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Inheritance allows a class (child class) to inherit attributes and methods from another class (parent class). This promotes code reusability.</a:t>
            </a:r>
          </a:p>
        </p:txBody>
      </p:sp>
    </p:spTree>
    <p:extLst>
      <p:ext uri="{BB962C8B-B14F-4D97-AF65-F5344CB8AC3E}">
        <p14:creationId xmlns:p14="http://schemas.microsoft.com/office/powerpoint/2010/main" val="10493325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02F90-8412-B2E1-5709-3F624C340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478679"/>
            <a:ext cx="10241280" cy="5390413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 Employee: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def __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__(self ):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print("Employee constructor function")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 Manager(Employee):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def __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__(self ):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super().__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__()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print("Manager constructor function")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Creating objects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#employee_1 = Employee()#wrong usage of inheritance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manager_1 = Manager()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8379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02F90-8412-B2E1-5709-3F624C340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478679"/>
            <a:ext cx="10241280" cy="5390413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 Employee: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def __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__(self ):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print("Employee constructor function")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def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display_info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(self):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print("Employee display function")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 Manager(Employee):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def __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__(self ):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super().__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__()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print("Manager constructor function")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def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display_info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(self):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super().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display_info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print("Manager display function")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#employee_1 = Employee()#wrong usage of inheritance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manager_1 = Manager()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manager_1.display_info()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54756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3B178-44DC-537C-E423-C5A4E857E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Polymorphism</a:t>
            </a:r>
            <a:r>
              <a:rPr lang="en-US" dirty="0"/>
              <a:t>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D7880-2DF7-20B5-916C-9FB0CAEB5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Polymorphism allows methods to have different implementations depending on the object calling them. The same method can be used in different ways based on the object type.</a:t>
            </a:r>
          </a:p>
        </p:txBody>
      </p:sp>
    </p:spTree>
    <p:extLst>
      <p:ext uri="{BB962C8B-B14F-4D97-AF65-F5344CB8AC3E}">
        <p14:creationId xmlns:p14="http://schemas.microsoft.com/office/powerpoint/2010/main" val="34097698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E678A-38D7-7F5A-4E2B-61EB8E231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64058-F75E-6290-3675-FBE39617C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745" y="220929"/>
            <a:ext cx="10764145" cy="6161460"/>
          </a:xfrm>
          <a:solidFill>
            <a:schemeClr val="bg1"/>
          </a:solidFill>
        </p:spPr>
        <p:txBody>
          <a:bodyPr>
            <a:normAutofit fontScale="70000" lnSpcReduction="2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 Employee: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def __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__(self, name, salary):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self.name = 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self.salary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salary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def work(self):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print(f"{self.name} is working as a general employee.")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 Developer(Employee):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def work(self):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print(f"{self.name} is writing code.")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 Designer(Employee):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def work(self):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print(f"{self.name} is designing a product.")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 Manager(Employee):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def work(self):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print(f"{self.name} is managing the team.")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Polymorphism in action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 </a:t>
            </a:r>
            <a:r>
              <a:rPr lang="en-US" sz="1800" kern="100" dirty="0" err="1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employee_work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(employee):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employee.work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Creating objects of different types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 = Developer("Alisha", 90000)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designer = Designer("Reema", 80000)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manager = Manager("Jai", 100000)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Using polymorphism to call the appropriate method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employee_work</a:t>
            </a: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(dev)     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employee_work</a:t>
            </a: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(designer)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employee_work</a:t>
            </a:r>
            <a:r>
              <a:rPr lang="en-US" sz="1800" kern="100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(manager)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7994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89CFB-40F6-85D7-9641-47121EB57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243" y="175098"/>
            <a:ext cx="10390437" cy="6446196"/>
          </a:xfrm>
          <a:solidFill>
            <a:schemeClr val="tx2">
              <a:lumMod val="10000"/>
              <a:lumOff val="90000"/>
            </a:schemeClr>
          </a:solidFill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Question:</a:t>
            </a:r>
            <a:br>
              <a:rPr lang="en-US" b="1" dirty="0"/>
            </a:br>
            <a:r>
              <a:rPr lang="en-US" b="1" dirty="0"/>
              <a:t>Create a Python program using inheritance for an Employee Management System.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1. Create a parent class Employee with: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Private attribute: __</a:t>
            </a:r>
            <a:r>
              <a:rPr lang="en-US" b="1" dirty="0" err="1"/>
              <a:t>emp_id</a:t>
            </a:r>
            <a:endParaRPr lang="en-US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Public attributes: name, department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Attribute company with a default value "</a:t>
            </a:r>
            <a:r>
              <a:rPr lang="en-US" b="1" dirty="0" err="1"/>
              <a:t>TechCorp</a:t>
            </a:r>
            <a:r>
              <a:rPr lang="en-US" b="1" dirty="0"/>
              <a:t>"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Method </a:t>
            </a:r>
            <a:r>
              <a:rPr lang="en-US" b="1" dirty="0" err="1"/>
              <a:t>show_details</a:t>
            </a:r>
            <a:r>
              <a:rPr lang="en-US" b="1" dirty="0"/>
              <a:t>() that prints: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Employee ID: &lt;id&gt; Name: &lt;name&gt; Department: &lt;department&gt; Company: &lt;company&gt;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b="1" dirty="0"/>
            </a:br>
            <a:r>
              <a:rPr lang="en-US" b="1" dirty="0"/>
              <a:t>2. Create two child classes: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a. </a:t>
            </a:r>
            <a:r>
              <a:rPr lang="en-US" b="1" dirty="0" err="1"/>
              <a:t>FullTimeEmployee</a:t>
            </a:r>
            <a:endParaRPr lang="en-US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Extra attribute: salary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Constructor should call super()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Method display() to print: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Monthly Salary: &lt;salary&gt;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b="1" dirty="0"/>
            </a:br>
            <a:r>
              <a:rPr lang="en-US" b="1" dirty="0"/>
              <a:t>b. </a:t>
            </a:r>
            <a:r>
              <a:rPr lang="en-US" b="1" dirty="0" err="1"/>
              <a:t>PartTimeEmployee</a:t>
            </a:r>
            <a:endParaRPr lang="en-US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Extra attribute: </a:t>
            </a:r>
            <a:r>
              <a:rPr lang="en-US" b="1" dirty="0" err="1"/>
              <a:t>hourly_rate</a:t>
            </a:r>
            <a:endParaRPr lang="en-US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Constructor should call super()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Method display() to print: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Hourly Rate: &lt;rate&gt;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741501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3B178-44DC-537C-E423-C5A4E857E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D7880-2DF7-20B5-916C-9FB0CAEB5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Polymorphism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allows the function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employee_work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accept any subclass of Employee and call the appropriate work method, depending on the type of object passed.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subclass (Developer, Designer, Manager) overrides the work method to provide a specialized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0258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75553-0CCD-C850-9754-409B7B90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4BF57-CD64-6280-E801-CB7004222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8946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6881-A678-D9A2-CE57-486F25A29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Automation or </a:t>
            </a:r>
            <a:br>
              <a:rPr lang="en-US" dirty="0"/>
            </a:br>
            <a:r>
              <a:rPr lang="en-US" dirty="0"/>
              <a:t>Where is Automation???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5C70C-C8F5-32D2-1DAC-2BBA987D3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1295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78F9C-9ACE-D062-B1EF-89927C64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6422A-72AD-6CAF-4BBF-0DBB44DF0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Automation means </a:t>
            </a:r>
            <a:r>
              <a:rPr lang="en-US" b="1" dirty="0"/>
              <a:t>letting a program perform tasks automatically</a:t>
            </a:r>
            <a:r>
              <a:rPr lang="en-US" dirty="0"/>
              <a:t> without human effort.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Uses code to </a:t>
            </a:r>
            <a:r>
              <a:rPr lang="en-US" b="1" dirty="0"/>
              <a:t>reduce manual work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Makes processes </a:t>
            </a:r>
            <a:r>
              <a:rPr lang="en-US" b="1" dirty="0"/>
              <a:t>faster, accurate, and repeatable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Saves </a:t>
            </a:r>
            <a:r>
              <a:rPr lang="en-US" b="1" dirty="0"/>
              <a:t>time</a:t>
            </a:r>
            <a:r>
              <a:rPr lang="en-US" dirty="0"/>
              <a:t> and </a:t>
            </a:r>
            <a:r>
              <a:rPr lang="en-US" b="1" dirty="0"/>
              <a:t>human effort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Python is widely used because it is </a:t>
            </a:r>
            <a:r>
              <a:rPr lang="en-US" b="1" dirty="0"/>
              <a:t>simple</a:t>
            </a:r>
            <a:r>
              <a:rPr lang="en-US" dirty="0"/>
              <a:t>, has </a:t>
            </a:r>
            <a:r>
              <a:rPr lang="en-US" b="1" dirty="0"/>
              <a:t>powerful libraries</a:t>
            </a:r>
            <a:r>
              <a:rPr lang="en-US" dirty="0"/>
              <a:t>, and works on </a:t>
            </a:r>
            <a:r>
              <a:rPr lang="en-US" b="1" dirty="0"/>
              <a:t>different platforms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3583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86A67-7ADB-D69E-CE41-04F3CC1C6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412231"/>
            <a:ext cx="10423660" cy="6063520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1. File &amp; Folder Automation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2. Web Automation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3. UI/Desktop Automation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4. API Automation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5. Task Scheduling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6. Excel &amp; Report Automation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7. Email Automation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8. Database Automation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9. Testing Automation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10. System &amp; Network Automation</a:t>
            </a:r>
          </a:p>
        </p:txBody>
      </p:sp>
    </p:spTree>
    <p:extLst>
      <p:ext uri="{BB962C8B-B14F-4D97-AF65-F5344CB8AC3E}">
        <p14:creationId xmlns:p14="http://schemas.microsoft.com/office/powerpoint/2010/main" val="40024480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794DD-934B-D970-4045-4DB9AD42F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Automation: </a:t>
            </a:r>
            <a:br>
              <a:rPr lang="en-US" dirty="0"/>
            </a:br>
            <a:r>
              <a:rPr lang="en-US" dirty="0"/>
              <a:t>Count &amp; List Files in Current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64754-B47E-C69D-4DE0-EFEE94037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automation script that:</a:t>
            </a:r>
          </a:p>
          <a:p>
            <a:r>
              <a:rPr lang="en-US" b="1" dirty="0"/>
              <a:t>Counts how many files</a:t>
            </a:r>
            <a:r>
              <a:rPr lang="en-US" dirty="0"/>
              <a:t> are present in the </a:t>
            </a:r>
            <a:r>
              <a:rPr lang="en-US" b="1" dirty="0"/>
              <a:t>current working directory</a:t>
            </a:r>
            <a:endParaRPr lang="en-US" dirty="0"/>
          </a:p>
          <a:p>
            <a:r>
              <a:rPr lang="en-US" b="1" dirty="0"/>
              <a:t>Lists all file names</a:t>
            </a:r>
            <a:endParaRPr lang="en-US" dirty="0"/>
          </a:p>
          <a:p>
            <a:r>
              <a:rPr lang="en-US" b="1" dirty="0"/>
              <a:t>Prints the result in a clean report format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42776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764AB-77A1-762F-3825-582F75EE8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94098"/>
            <a:ext cx="10058400" cy="5582489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import </a:t>
            </a:r>
            <a:r>
              <a:rPr lang="en-US" dirty="0" err="1"/>
              <a:t>os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current_folder</a:t>
            </a:r>
            <a:r>
              <a:rPr lang="en-US" dirty="0"/>
              <a:t> = </a:t>
            </a:r>
            <a:r>
              <a:rPr lang="en-US" dirty="0" err="1"/>
              <a:t>os.getcwd</a:t>
            </a:r>
            <a:r>
              <a:rPr lang="en-US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items = </a:t>
            </a:r>
            <a:r>
              <a:rPr lang="en-US" dirty="0" err="1"/>
              <a:t>os.listdir</a:t>
            </a:r>
            <a:r>
              <a:rPr lang="en-US" dirty="0"/>
              <a:t>(</a:t>
            </a:r>
            <a:r>
              <a:rPr lang="en-US" dirty="0" err="1"/>
              <a:t>current_folder</a:t>
            </a:r>
            <a:r>
              <a:rPr lang="en-US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files = [f for f in items if </a:t>
            </a:r>
            <a:r>
              <a:rPr lang="en-US" dirty="0" err="1"/>
              <a:t>os.path.isfile</a:t>
            </a:r>
            <a:r>
              <a:rPr lang="en-US" dirty="0"/>
              <a:t>(</a:t>
            </a:r>
            <a:r>
              <a:rPr lang="en-US" dirty="0" err="1"/>
              <a:t>os.path.join</a:t>
            </a:r>
            <a:r>
              <a:rPr lang="en-US" dirty="0"/>
              <a:t>(</a:t>
            </a:r>
            <a:r>
              <a:rPr lang="en-US" dirty="0" err="1"/>
              <a:t>current_folder</a:t>
            </a:r>
            <a:r>
              <a:rPr lang="en-US" dirty="0"/>
              <a:t>, f))]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print("Total Files Found:", </a:t>
            </a:r>
            <a:r>
              <a:rPr lang="en-US" dirty="0" err="1"/>
              <a:t>len</a:t>
            </a:r>
            <a:r>
              <a:rPr lang="en-US" dirty="0"/>
              <a:t>(files))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print("\</a:t>
            </a:r>
            <a:r>
              <a:rPr lang="en-US" dirty="0" err="1"/>
              <a:t>nList</a:t>
            </a:r>
            <a:r>
              <a:rPr lang="en-US" dirty="0"/>
              <a:t> of Files:")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, file in enumerate(files, start=1):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print(f"{</a:t>
            </a:r>
            <a:r>
              <a:rPr lang="en-US" dirty="0" err="1"/>
              <a:t>i</a:t>
            </a:r>
            <a:r>
              <a:rPr lang="en-US" dirty="0"/>
              <a:t>}. {file}")</a:t>
            </a:r>
          </a:p>
        </p:txBody>
      </p:sp>
    </p:spTree>
    <p:extLst>
      <p:ext uri="{BB962C8B-B14F-4D97-AF65-F5344CB8AC3E}">
        <p14:creationId xmlns:p14="http://schemas.microsoft.com/office/powerpoint/2010/main" val="32463797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7829-0937-CBA8-F742-0FB115530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extension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9103C-057B-626D-82DE-E79D926BD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343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F49CF-8E1F-362A-6F8F-DAA2E9949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example which is more dynamic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694EA-EADA-A450-0E8A-512E39E03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3744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7B60C-8999-326F-EFED-71307FAC2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4BF08-6803-DCF0-1F75-D7FA3C98D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Web Automation</a:t>
            </a:r>
            <a:r>
              <a:rPr lang="en-US" dirty="0"/>
              <a:t> is the process of using a program or script to automatically perform tasks in a web browser that a human would normally do manually.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9195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228E33-DE0F-A7C3-9FC0-7F34D513E1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381730"/>
              </p:ext>
            </p:extLst>
          </p:nvPr>
        </p:nvGraphicFramePr>
        <p:xfrm>
          <a:off x="1065402" y="444616"/>
          <a:ext cx="10425522" cy="52425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103927">
                  <a:extLst>
                    <a:ext uri="{9D8B030D-6E8A-4147-A177-3AD203B41FA5}">
                      <a16:colId xmlns:a16="http://schemas.microsoft.com/office/drawing/2014/main" val="1348980868"/>
                    </a:ext>
                  </a:extLst>
                </a:gridCol>
                <a:gridCol w="7321595">
                  <a:extLst>
                    <a:ext uri="{9D8B030D-6E8A-4147-A177-3AD203B41FA5}">
                      <a16:colId xmlns:a16="http://schemas.microsoft.com/office/drawing/2014/main" val="2011663148"/>
                    </a:ext>
                  </a:extLst>
                </a:gridCol>
              </a:tblGrid>
              <a:tr h="491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Tool/Library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3053324"/>
                  </a:ext>
                </a:extLst>
              </a:tr>
              <a:tr h="859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Selenium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Automates web browsers; interacts with HTML elements, forms, buttons,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1502679"/>
                  </a:ext>
                </a:extLst>
              </a:tr>
              <a:tr h="859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Playwright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Modern alternative to Selenium; supports multiple browsers and is faster.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7123005"/>
                  </a:ext>
                </a:extLst>
              </a:tr>
              <a:tr h="859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BeautifulSoup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For scraping and parsing HTML, but not full browser automation.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1500682"/>
                  </a:ext>
                </a:extLst>
              </a:tr>
              <a:tr h="859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Requests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For interacting with websites via HTTP, useful for APIs or simple scraping.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023020"/>
                  </a:ext>
                </a:extLst>
              </a:tr>
              <a:tr h="859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PyAutoGUI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GUI automation, including web browsers, mouse, keyboard clicks (less reliable than Selenium).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8604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8179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9047-164E-C49D-4F82-C93D58F90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Browser Automation with Selenium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B39E0-9BFB-7E40-52DF-1351503A5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Selenium automates browsers to perform actions such as clicking, typing, navigation, and form submission.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3970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9047-164E-C49D-4F82-C93D58F90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B39E0-9BFB-7E40-52DF-1351503A5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selenium import </a:t>
            </a:r>
            <a:r>
              <a:rPr lang="en-US" dirty="0" err="1"/>
              <a:t>webdriver</a:t>
            </a:r>
            <a:endParaRPr lang="en-US" dirty="0"/>
          </a:p>
          <a:p>
            <a:r>
              <a:rPr lang="en-US" dirty="0"/>
              <a:t>driver = </a:t>
            </a:r>
            <a:r>
              <a:rPr lang="en-US" dirty="0" err="1"/>
              <a:t>webdriver.Chrome</a:t>
            </a:r>
            <a:r>
              <a:rPr lang="en-US" dirty="0"/>
              <a:t>()</a:t>
            </a:r>
          </a:p>
          <a:p>
            <a:r>
              <a:rPr lang="en-US" dirty="0" err="1"/>
              <a:t>driver.get</a:t>
            </a:r>
            <a:r>
              <a:rPr lang="en-US" dirty="0"/>
              <a:t>("https://google.com")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2557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9047-164E-C49D-4F82-C93D58F90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B39E0-9BFB-7E40-52DF-1351503A5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selenium.webdriver.common.by import By</a:t>
            </a:r>
          </a:p>
          <a:p>
            <a:r>
              <a:rPr lang="en-US" dirty="0"/>
              <a:t>box = </a:t>
            </a:r>
            <a:r>
              <a:rPr lang="en-US" dirty="0" err="1"/>
              <a:t>driver.find_element</a:t>
            </a:r>
            <a:r>
              <a:rPr lang="en-US" dirty="0"/>
              <a:t>(By.NAME, "q")</a:t>
            </a:r>
          </a:p>
          <a:p>
            <a:r>
              <a:rPr lang="en-US" dirty="0" err="1"/>
              <a:t>box.send_keys</a:t>
            </a:r>
            <a:r>
              <a:rPr lang="en-US" dirty="0"/>
              <a:t>("Python automation")</a:t>
            </a:r>
          </a:p>
          <a:p>
            <a:r>
              <a:rPr lang="en-US" dirty="0" err="1"/>
              <a:t>box.submit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56897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CDE88-4E16-35A0-CA13-79FB443A7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Browser Automation with Playwright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0CCA3-F033-7238-1220-30997EEC2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playwright.sync_api</a:t>
            </a:r>
            <a:r>
              <a:rPr lang="en-US" dirty="0"/>
              <a:t> import </a:t>
            </a:r>
            <a:r>
              <a:rPr lang="en-US" dirty="0" err="1"/>
              <a:t>sync_playwright</a:t>
            </a:r>
            <a:endParaRPr lang="en-US" dirty="0"/>
          </a:p>
          <a:p>
            <a:r>
              <a:rPr lang="en-US" dirty="0"/>
              <a:t>with </a:t>
            </a:r>
            <a:r>
              <a:rPr lang="en-US" dirty="0" err="1"/>
              <a:t>sync_playwright</a:t>
            </a:r>
            <a:r>
              <a:rPr lang="en-US" dirty="0"/>
              <a:t>() as p:</a:t>
            </a:r>
          </a:p>
          <a:p>
            <a:r>
              <a:rPr lang="en-US" dirty="0"/>
              <a:t>    browser = </a:t>
            </a:r>
            <a:r>
              <a:rPr lang="en-US" dirty="0" err="1"/>
              <a:t>p.chromium.launch</a:t>
            </a:r>
            <a:r>
              <a:rPr lang="en-US" dirty="0"/>
              <a:t>()</a:t>
            </a:r>
          </a:p>
          <a:p>
            <a:r>
              <a:rPr lang="en-US" dirty="0"/>
              <a:t>    page = </a:t>
            </a:r>
            <a:r>
              <a:rPr lang="en-US" dirty="0" err="1"/>
              <a:t>browser.new_page</a:t>
            </a:r>
            <a:r>
              <a:rPr lang="en-US" dirty="0"/>
              <a:t>()</a:t>
            </a:r>
          </a:p>
          <a:p>
            <a:r>
              <a:rPr lang="en-US" dirty="0"/>
              <a:t>    </a:t>
            </a:r>
            <a:r>
              <a:rPr lang="en-US" dirty="0" err="1"/>
              <a:t>page.goto</a:t>
            </a:r>
            <a:r>
              <a:rPr lang="en-US" dirty="0"/>
              <a:t>("https://example.com")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95977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8ABC7-8702-D1CB-9063-39A5B4613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6818-C39F-7978-2CF1-FE6DF89B7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Demo: Dummy Login → Scrape Table → Logout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04013-9027-6670-B7B8-2CB74D14A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29259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Demo Site for Automation Practice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hlinkClick r:id="rId2"/>
              </a:rPr>
              <a:t>https://practicetestautomation.com/practice-test-login/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Features: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✔ Login form</a:t>
            </a:r>
            <a:br>
              <a:rPr lang="en-US" dirty="0"/>
            </a:br>
            <a:r>
              <a:rPr lang="en-US" dirty="0"/>
              <a:t>✔ Valid username/password</a:t>
            </a:r>
            <a:br>
              <a:rPr lang="en-US" dirty="0"/>
            </a:br>
            <a:r>
              <a:rPr lang="en-US" dirty="0"/>
              <a:t>✔ Redirects to secure page</a:t>
            </a:r>
            <a:br>
              <a:rPr lang="en-US" dirty="0"/>
            </a:br>
            <a:r>
              <a:rPr lang="en-US" dirty="0"/>
              <a:t>✔ Contains table-like text to scrape</a:t>
            </a:r>
            <a:br>
              <a:rPr lang="en-US" dirty="0"/>
            </a:br>
            <a:r>
              <a:rPr lang="en-US" dirty="0"/>
              <a:t>✔ Logout button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Credentials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Username:</a:t>
            </a:r>
            <a:r>
              <a:rPr lang="en-US" dirty="0"/>
              <a:t> student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Password:</a:t>
            </a:r>
            <a:r>
              <a:rPr lang="en-US" dirty="0"/>
              <a:t> Password123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25840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0EA55-6F66-DB74-BC4F-AE6A43015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C0AB3-684D-3404-0B5F-C4E6AF062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942" y="44143"/>
            <a:ext cx="5801710" cy="676971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from selenium import </a:t>
            </a:r>
            <a:r>
              <a:rPr lang="en-US" sz="1600" dirty="0" err="1"/>
              <a:t>webdriver</a:t>
            </a: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from selenium.webdriver.common.by import By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from </a:t>
            </a:r>
            <a:r>
              <a:rPr lang="en-US" sz="1600" dirty="0" err="1"/>
              <a:t>selenium.webdriver.common.keys</a:t>
            </a:r>
            <a:r>
              <a:rPr lang="en-US" sz="1600" dirty="0"/>
              <a:t> import Keys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import time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driver = </a:t>
            </a:r>
            <a:r>
              <a:rPr lang="en-US" sz="1600" dirty="0" err="1"/>
              <a:t>webdriver.Chrome</a:t>
            </a:r>
            <a:r>
              <a:rPr lang="en-US" sz="1600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err="1"/>
              <a:t>driver.maximize_window</a:t>
            </a:r>
            <a:r>
              <a:rPr lang="en-US" sz="1600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# Step 1: Open site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err="1"/>
              <a:t>driver.get</a:t>
            </a:r>
            <a:r>
              <a:rPr lang="en-US" sz="1600" dirty="0"/>
              <a:t>("https://practicetestautomation.com/practice-test-login/")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# Step 2: Login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err="1"/>
              <a:t>driver.find_element</a:t>
            </a:r>
            <a:r>
              <a:rPr lang="en-US" sz="1600" dirty="0"/>
              <a:t>(By.ID, "username").</a:t>
            </a:r>
            <a:r>
              <a:rPr lang="en-US" sz="1600" dirty="0" err="1"/>
              <a:t>send_keys</a:t>
            </a:r>
            <a:r>
              <a:rPr lang="en-US" sz="1600" dirty="0"/>
              <a:t>("student")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err="1"/>
              <a:t>driver.find_element</a:t>
            </a:r>
            <a:r>
              <a:rPr lang="en-US" sz="1600" dirty="0"/>
              <a:t>(By.ID, "password").</a:t>
            </a:r>
            <a:r>
              <a:rPr lang="en-US" sz="1600" dirty="0" err="1"/>
              <a:t>send_keys</a:t>
            </a:r>
            <a:r>
              <a:rPr lang="en-US" sz="1600" dirty="0"/>
              <a:t>("Password123")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err="1"/>
              <a:t>driver.find_element</a:t>
            </a:r>
            <a:r>
              <a:rPr lang="en-US" sz="1600" dirty="0"/>
              <a:t>(By.ID, "submit").click()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err="1"/>
              <a:t>time.sleep</a:t>
            </a:r>
            <a:r>
              <a:rPr lang="en-US" sz="1600" dirty="0"/>
              <a:t>(2)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29F4D3-8B7C-B6C5-EE9F-B5EB4F1FB47F}"/>
              </a:ext>
            </a:extLst>
          </p:cNvPr>
          <p:cNvSpPr txBox="1"/>
          <p:nvPr/>
        </p:nvSpPr>
        <p:spPr>
          <a:xfrm>
            <a:off x="6047652" y="460353"/>
            <a:ext cx="6094948" cy="497982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# Step 3: Scrape text/table content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message = </a:t>
            </a:r>
            <a:r>
              <a:rPr lang="en-US" sz="1600" dirty="0" err="1"/>
              <a:t>driver.find_element</a:t>
            </a:r>
            <a:r>
              <a:rPr lang="en-US" sz="1600" dirty="0"/>
              <a:t>(</a:t>
            </a:r>
            <a:r>
              <a:rPr lang="en-US" sz="1600" dirty="0" err="1"/>
              <a:t>By.TAG_NAME</a:t>
            </a:r>
            <a:r>
              <a:rPr lang="en-US" sz="1600" dirty="0"/>
              <a:t>, "h1").text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print("Page heading:", message)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content = </a:t>
            </a:r>
            <a:r>
              <a:rPr lang="en-US" sz="1600" dirty="0" err="1"/>
              <a:t>driver.find_element</a:t>
            </a:r>
            <a:r>
              <a:rPr lang="en-US" sz="1600" dirty="0"/>
              <a:t>(</a:t>
            </a:r>
            <a:r>
              <a:rPr lang="en-US" sz="1600" dirty="0" err="1"/>
              <a:t>By.CLASS_NAME</a:t>
            </a:r>
            <a:r>
              <a:rPr lang="en-US" sz="1600" dirty="0"/>
              <a:t>, "post-content").text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print("Page content:\n", content)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err="1"/>
              <a:t>time.sleep</a:t>
            </a:r>
            <a:r>
              <a:rPr lang="en-US" sz="1600" dirty="0"/>
              <a:t>(2)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# Step 4: Logout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err="1"/>
              <a:t>driver.find_element</a:t>
            </a:r>
            <a:r>
              <a:rPr lang="en-US" sz="1600" dirty="0"/>
              <a:t>(</a:t>
            </a:r>
            <a:r>
              <a:rPr lang="en-US" sz="1600" dirty="0" err="1"/>
              <a:t>By.LINK_TEXT</a:t>
            </a:r>
            <a:r>
              <a:rPr lang="en-US" sz="1600" dirty="0"/>
              <a:t>, "Log out").click()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print("Logged out successfully")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input("Press Enter to close...")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err="1"/>
              <a:t>driver.quit</a:t>
            </a:r>
            <a:r>
              <a:rPr lang="en-US" sz="1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5983316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B19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2343B3-5320-2384-DC8A-B474D0C9B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19345-E54E-4B7B-7873-8D2F45D36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Time with TRAINER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63F7F-17E6-A112-B0C1-CBB64360A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647" y="1902637"/>
            <a:ext cx="2799911" cy="4512339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Can we step inside Amazon???</a:t>
            </a:r>
          </a:p>
        </p:txBody>
      </p:sp>
      <p:pic>
        <p:nvPicPr>
          <p:cNvPr id="9" name="Picture 8" descr="A note on a piece of paper&#10;&#10;AI-generated content may be incorrect.">
            <a:extLst>
              <a:ext uri="{FF2B5EF4-FFF2-40B4-BE49-F238E27FC236}">
                <a16:creationId xmlns:a16="http://schemas.microsoft.com/office/drawing/2014/main" id="{4FED65E0-F985-AD23-6BC9-B156E0E9F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0946" y="1"/>
            <a:ext cx="2461053" cy="186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665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32D5C-0A93-B734-2281-3B5857499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go bit beyond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71B85-954C-2F06-1750-6B98173DA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step inside Amazon???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32385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75D30-B3EB-9A15-E93E-B4051B459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Can we do with LinkedIn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165B5-CA11-0F9D-C80B-2E93A5BAA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NOPE…</a:t>
            </a:r>
          </a:p>
          <a:p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LinkedIn is </a:t>
            </a:r>
            <a:r>
              <a:rPr lang="en-US" b="1" dirty="0"/>
              <a:t>NOT a public website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Everything on LinkedIn is: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user data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personal information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messages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connections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career profiles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And LinkedIn explicitly protects this.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25631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DF7A2-9A12-C87E-435A-8E4F266E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BeautifulSoup4 - </a:t>
            </a:r>
            <a:br>
              <a:rPr lang="en-US" dirty="0"/>
            </a:br>
            <a:r>
              <a:rPr lang="en-US" dirty="0"/>
              <a:t>HTML Parsing &amp; 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EB438-D528-A0D7-F5BB-B6C18AC23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BeautifulSoup4 is a Python library used to extract data from HTML pages.</a:t>
            </a:r>
            <a:br>
              <a:rPr lang="en-US" dirty="0"/>
            </a:br>
            <a:r>
              <a:rPr lang="en-US" dirty="0"/>
              <a:t>It is ideal for structured scraping from static websites.</a:t>
            </a:r>
            <a:br>
              <a:rPr lang="en-US" dirty="0"/>
            </a:br>
            <a:r>
              <a:rPr lang="en-US" dirty="0"/>
              <a:t>Often used with Selenium to scrape dynamic websites.</a:t>
            </a:r>
          </a:p>
          <a:p>
            <a:endParaRPr lang="en-US" dirty="0"/>
          </a:p>
          <a:p>
            <a:r>
              <a:rPr lang="en-US" dirty="0"/>
              <a:t>Web Scrapping: </a:t>
            </a:r>
            <a:r>
              <a:rPr lang="en-US" b="1" dirty="0"/>
              <a:t>Web Scraping</a:t>
            </a:r>
            <a:r>
              <a:rPr lang="en-US" dirty="0"/>
              <a:t> is the process of extracting data from websites. It involves fetching the content of a web page, parsing the HTML, and extracting specific data points such as text, links, images, or tables. </a:t>
            </a:r>
          </a:p>
          <a:p>
            <a:r>
              <a:rPr lang="en-US" dirty="0"/>
              <a:t>This is often done to gather information from websites for analysis, data mining, research, or competitive analysis.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98263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364BE-9AFE-6813-F7C8-91488A68C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3F909-B98E-3511-873D-42452258F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from bs4 import </a:t>
            </a:r>
            <a:r>
              <a:rPr lang="en-US" dirty="0" err="1"/>
              <a:t>BeautifulSoup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import requests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url</a:t>
            </a:r>
            <a:r>
              <a:rPr lang="en-US" dirty="0"/>
              <a:t> = "https://example.com"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html = </a:t>
            </a:r>
            <a:r>
              <a:rPr lang="en-US" dirty="0" err="1"/>
              <a:t>requests.get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).text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soup = </a:t>
            </a:r>
            <a:r>
              <a:rPr lang="en-US" dirty="0" err="1"/>
              <a:t>BeautifulSoup</a:t>
            </a:r>
            <a:r>
              <a:rPr lang="en-US" dirty="0"/>
              <a:t>(html, "</a:t>
            </a:r>
            <a:r>
              <a:rPr lang="en-US" dirty="0" err="1"/>
              <a:t>html.parser</a:t>
            </a:r>
            <a:r>
              <a:rPr lang="en-US" dirty="0"/>
              <a:t>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titles = </a:t>
            </a:r>
            <a:r>
              <a:rPr lang="en-US" dirty="0" err="1"/>
              <a:t>soup.find_all</a:t>
            </a:r>
            <a:r>
              <a:rPr lang="en-US" dirty="0"/>
              <a:t>("h1")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for t in titles: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print(</a:t>
            </a:r>
            <a:r>
              <a:rPr lang="en-US" dirty="0" err="1"/>
              <a:t>t.text</a:t>
            </a:r>
            <a:r>
              <a:rPr lang="en-US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7602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3B528-4F3F-7E1A-607A-FC44A7497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070" y="170121"/>
            <a:ext cx="11242158" cy="6464595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import requests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from bs4 import </a:t>
            </a:r>
            <a:r>
              <a:rPr lang="en-US" sz="1600" dirty="0" err="1"/>
              <a:t>BeautifulSoup</a:t>
            </a: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1600" dirty="0"/>
            </a:b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err="1"/>
              <a:t>url</a:t>
            </a:r>
            <a:r>
              <a:rPr lang="en-US" sz="1600" dirty="0"/>
              <a:t> = "http://books.toscrape.com"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response = </a:t>
            </a:r>
            <a:r>
              <a:rPr lang="en-US" sz="1600" dirty="0" err="1"/>
              <a:t>requests.get</a:t>
            </a:r>
            <a:r>
              <a:rPr lang="en-US" sz="1600" dirty="0"/>
              <a:t>(</a:t>
            </a:r>
            <a:r>
              <a:rPr lang="en-US" sz="1600" dirty="0" err="1"/>
              <a:t>url</a:t>
            </a:r>
            <a:r>
              <a:rPr lang="en-US" sz="1600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1600" dirty="0"/>
            </a:b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if </a:t>
            </a:r>
            <a:r>
              <a:rPr lang="en-US" sz="1600" dirty="0" err="1"/>
              <a:t>response.status_code</a:t>
            </a:r>
            <a:r>
              <a:rPr lang="en-US" sz="1600" dirty="0"/>
              <a:t> == 200: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soup = </a:t>
            </a:r>
            <a:r>
              <a:rPr lang="en-US" sz="1600" dirty="0" err="1"/>
              <a:t>BeautifulSoup</a:t>
            </a:r>
            <a:r>
              <a:rPr lang="en-US" sz="1600" dirty="0"/>
              <a:t>(</a:t>
            </a:r>
            <a:r>
              <a:rPr lang="en-US" sz="1600" dirty="0" err="1"/>
              <a:t>response.text</a:t>
            </a:r>
            <a:r>
              <a:rPr lang="en-US" sz="1600" dirty="0"/>
              <a:t>, '</a:t>
            </a:r>
            <a:r>
              <a:rPr lang="en-US" sz="1600" dirty="0" err="1"/>
              <a:t>html.parser</a:t>
            </a:r>
            <a:r>
              <a:rPr lang="en-US" sz="1600" dirty="0"/>
              <a:t>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1600" dirty="0"/>
            </a:b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books = </a:t>
            </a:r>
            <a:r>
              <a:rPr lang="en-US" sz="1600" dirty="0" err="1"/>
              <a:t>soup.find_all</a:t>
            </a:r>
            <a:r>
              <a:rPr lang="en-US" sz="1600" dirty="0"/>
              <a:t>('h3')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prices = </a:t>
            </a:r>
            <a:r>
              <a:rPr lang="en-US" sz="1600" dirty="0" err="1"/>
              <a:t>soup.find_all</a:t>
            </a:r>
            <a:r>
              <a:rPr lang="en-US" sz="1600" dirty="0"/>
              <a:t>('p', class_='</a:t>
            </a:r>
            <a:r>
              <a:rPr lang="en-US" sz="1600" dirty="0" err="1"/>
              <a:t>price_color</a:t>
            </a:r>
            <a:r>
              <a:rPr lang="en-US" sz="1600" dirty="0"/>
              <a:t>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availability = </a:t>
            </a:r>
            <a:r>
              <a:rPr lang="en-US" sz="1600" dirty="0" err="1"/>
              <a:t>soup.find_all</a:t>
            </a:r>
            <a:r>
              <a:rPr lang="en-US" sz="1600" dirty="0"/>
              <a:t>('p', class_='</a:t>
            </a:r>
            <a:r>
              <a:rPr lang="en-US" sz="1600" dirty="0" err="1"/>
              <a:t>instock</a:t>
            </a:r>
            <a:r>
              <a:rPr lang="en-US" sz="1600" dirty="0"/>
              <a:t> availability')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ratings = </a:t>
            </a:r>
            <a:r>
              <a:rPr lang="en-US" sz="1600" dirty="0" err="1"/>
              <a:t>soup.find_all</a:t>
            </a:r>
            <a:r>
              <a:rPr lang="en-US" sz="1600" dirty="0"/>
              <a:t>('p', class_='star-rating')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1600" dirty="0"/>
            </a:b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for </a:t>
            </a:r>
            <a:r>
              <a:rPr lang="en-US" sz="1600" dirty="0" err="1"/>
              <a:t>i</a:t>
            </a:r>
            <a:r>
              <a:rPr lang="en-US" sz="1600" dirty="0"/>
              <a:t> in range(</a:t>
            </a:r>
            <a:r>
              <a:rPr lang="en-US" sz="1600" dirty="0" err="1"/>
              <a:t>len</a:t>
            </a:r>
            <a:r>
              <a:rPr lang="en-US" sz="1600" dirty="0"/>
              <a:t>(books)):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    title = books[</a:t>
            </a:r>
            <a:r>
              <a:rPr lang="en-US" sz="1600" dirty="0" err="1"/>
              <a:t>i</a:t>
            </a:r>
            <a:r>
              <a:rPr lang="en-US" sz="1600" dirty="0"/>
              <a:t>].a['title']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    price = prices[</a:t>
            </a:r>
            <a:r>
              <a:rPr lang="en-US" sz="1600" dirty="0" err="1"/>
              <a:t>i</a:t>
            </a:r>
            <a:r>
              <a:rPr lang="en-US" sz="1600" dirty="0"/>
              <a:t>].text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    stock = availability[</a:t>
            </a:r>
            <a:r>
              <a:rPr lang="en-US" sz="1600" dirty="0" err="1"/>
              <a:t>i</a:t>
            </a:r>
            <a:r>
              <a:rPr lang="en-US" sz="1600" dirty="0"/>
              <a:t>].</a:t>
            </a:r>
            <a:r>
              <a:rPr lang="en-US" sz="1600" dirty="0" err="1"/>
              <a:t>text.strip</a:t>
            </a:r>
            <a:r>
              <a:rPr lang="en-US" sz="1600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    rating = ratings[</a:t>
            </a:r>
            <a:r>
              <a:rPr lang="en-US" sz="1600" dirty="0" err="1"/>
              <a:t>i</a:t>
            </a:r>
            <a:r>
              <a:rPr lang="en-US" sz="1600" dirty="0"/>
              <a:t>].get('</a:t>
            </a:r>
            <a:r>
              <a:rPr lang="en-US" sz="1600" dirty="0" err="1"/>
              <a:t>class'</a:t>
            </a:r>
            <a:r>
              <a:rPr lang="en-US" sz="1600" dirty="0"/>
              <a:t>)[1]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    print(</a:t>
            </a:r>
            <a:r>
              <a:rPr lang="en-US" sz="1600" dirty="0" err="1"/>
              <a:t>f"Book</a:t>
            </a:r>
            <a:r>
              <a:rPr lang="en-US" sz="1600" dirty="0"/>
              <a:t> Title: {title}, Price: {price}, Availability: {stock}, Rating: {rating}")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else: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print("Failed to fetch the page.")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1600" dirty="0"/>
            </a:b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4451361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F438-BFB8-38A0-D828-2611D6EF1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have one more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BD653-4108-86EB-A659-7B2D9513B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1576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D287F-F574-6CBB-F781-E289DFE65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CC5C-BC55-22F4-41DC-3E1B41D41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7366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91546-8771-96FB-5AC7-9121AC43F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24E4E-58B1-3489-4A10-503A88241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Automating Desktop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BE485-C3A4-64FE-C2BB-9FA832E07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Desktop automation allows controlling Windows applications using tools like </a:t>
            </a:r>
            <a:r>
              <a:rPr lang="en-US" dirty="0" err="1"/>
              <a:t>PyAutoGUI</a:t>
            </a:r>
            <a:r>
              <a:rPr lang="en-US" dirty="0"/>
              <a:t>, </a:t>
            </a:r>
            <a:r>
              <a:rPr lang="en-US" dirty="0" err="1"/>
              <a:t>PyWinAuto</a:t>
            </a:r>
            <a:r>
              <a:rPr lang="en-US" dirty="0"/>
              <a:t>, or </a:t>
            </a:r>
            <a:r>
              <a:rPr lang="en-US" dirty="0" err="1"/>
              <a:t>AutoIt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70921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5CEC0-68A2-9F18-777F-0FD7AE97D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C9639-3CC2-EE1F-FACB-0D014D42B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E556D-9E1E-EDEB-5B1E-2E15C599B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pywinauto.application</a:t>
            </a:r>
            <a:r>
              <a:rPr lang="en-US" dirty="0"/>
              <a:t> import Application</a:t>
            </a:r>
          </a:p>
          <a:p>
            <a:endParaRPr lang="en-US" dirty="0"/>
          </a:p>
          <a:p>
            <a:r>
              <a:rPr lang="en-US" dirty="0"/>
              <a:t>app = Application().start("notepad.exe")</a:t>
            </a:r>
          </a:p>
          <a:p>
            <a:r>
              <a:rPr lang="en-US" dirty="0" err="1"/>
              <a:t>app.Notepad.Edit.type_keys</a:t>
            </a:r>
            <a:r>
              <a:rPr lang="en-US" dirty="0"/>
              <a:t>("Hello from automation!", </a:t>
            </a:r>
            <a:r>
              <a:rPr lang="en-US" dirty="0" err="1"/>
              <a:t>with_spaces</a:t>
            </a:r>
            <a:r>
              <a:rPr lang="en-US" dirty="0"/>
              <a:t>=True)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23735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896BB-8935-E73E-1051-FD6D85D75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B1A1-EE6E-44BC-443E-F96678D09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45A8-2B24-72FF-4E62-FEC877684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Dialogs (Open File, Save As, Alerts) can be automated by detecting windows and interacting with elements.</a:t>
            </a:r>
          </a:p>
          <a:p>
            <a:r>
              <a:rPr lang="en-US" dirty="0" err="1"/>
              <a:t>dlg</a:t>
            </a:r>
            <a:r>
              <a:rPr lang="en-US" dirty="0"/>
              <a:t> = </a:t>
            </a:r>
            <a:r>
              <a:rPr lang="en-US" dirty="0" err="1"/>
              <a:t>app.window</a:t>
            </a:r>
            <a:r>
              <a:rPr lang="en-US" dirty="0"/>
              <a:t>(title="Save As")</a:t>
            </a:r>
          </a:p>
          <a:p>
            <a:r>
              <a:rPr lang="en-US" dirty="0" err="1"/>
              <a:t>dlg.Edit.type_keys</a:t>
            </a:r>
            <a:r>
              <a:rPr lang="en-US" dirty="0"/>
              <a:t>("sample.txt")</a:t>
            </a:r>
          </a:p>
          <a:p>
            <a:r>
              <a:rPr lang="en-US" dirty="0" err="1"/>
              <a:t>dlg.Save.click</a:t>
            </a:r>
            <a:r>
              <a:rPr lang="en-US" dirty="0"/>
              <a:t>()</a:t>
            </a:r>
          </a:p>
          <a:p>
            <a:r>
              <a:rPr lang="en-US" dirty="0"/>
              <a:t>popup = </a:t>
            </a:r>
            <a:r>
              <a:rPr lang="en-US" dirty="0" err="1"/>
              <a:t>app.window</a:t>
            </a:r>
            <a:r>
              <a:rPr lang="en-US" dirty="0"/>
              <a:t>(title="Confirm Exit")</a:t>
            </a:r>
          </a:p>
          <a:p>
            <a:r>
              <a:rPr lang="en-US" dirty="0" err="1"/>
              <a:t>popup.Yes.click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67932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86D70-6E1D-D5B8-D07D-1F9575539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17F0-8D09-839C-8BFA-E2B901799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work on one Important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2B618-77E2-FDE2-D9B4-028EC7445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lets create 3 different scripts</a:t>
            </a:r>
          </a:p>
          <a:p>
            <a:r>
              <a:rPr lang="en-US" b="1" dirty="0"/>
              <a:t>script1.py</a:t>
            </a:r>
            <a:r>
              <a:rPr lang="en-US" dirty="0"/>
              <a:t> → Notepad opens</a:t>
            </a:r>
            <a:br>
              <a:rPr lang="en-US" dirty="0"/>
            </a:br>
            <a:r>
              <a:rPr lang="en-US" b="1" dirty="0"/>
              <a:t>script2.py</a:t>
            </a:r>
            <a:r>
              <a:rPr lang="en-US" dirty="0"/>
              <a:t> → Starts typing → Press ESC to stop</a:t>
            </a:r>
            <a:br>
              <a:rPr lang="en-US" dirty="0"/>
            </a:br>
            <a:r>
              <a:rPr lang="en-US" b="1" dirty="0"/>
              <a:t>script3.py</a:t>
            </a:r>
            <a:r>
              <a:rPr lang="en-US" dirty="0"/>
              <a:t> → Saves file with given name</a:t>
            </a:r>
          </a:p>
        </p:txBody>
      </p:sp>
    </p:spTree>
    <p:extLst>
      <p:ext uri="{BB962C8B-B14F-4D97-AF65-F5344CB8AC3E}">
        <p14:creationId xmlns:p14="http://schemas.microsoft.com/office/powerpoint/2010/main" val="316600748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FEC76-B6CA-9B55-09CD-BEBF8E63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45A23-50D7-63E3-8F1C-0C0F55453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19E38-9D38-5DBB-EC51-71C414A73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682331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61964-0CB1-6760-3CC2-96BA4B895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CEB1-DCDF-034D-5DDC-3320A10D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&amp; Retry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D31F0-97AD-279C-6B1F-D164454C7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17290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F72FA-4596-7E8E-2A00-A11BCF138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4149F-E896-374E-EF5C-0551328F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an Exception?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13F45-FDCB-BA86-3491-6E4809F10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Definition:</a:t>
            </a:r>
          </a:p>
          <a:p>
            <a:r>
              <a:rPr lang="en-US" dirty="0"/>
              <a:t>An </a:t>
            </a:r>
            <a:r>
              <a:rPr lang="en-US" b="1" dirty="0"/>
              <a:t>exception</a:t>
            </a:r>
            <a:r>
              <a:rPr lang="en-US" dirty="0"/>
              <a:t> is an error that occurs during program execution, causing the normal flow to stop.</a:t>
            </a:r>
          </a:p>
          <a:p>
            <a:r>
              <a:rPr lang="en-US" b="1" dirty="0"/>
              <a:t>Common Exceptions:</a:t>
            </a:r>
          </a:p>
          <a:p>
            <a:pPr lvl="1"/>
            <a:r>
              <a:rPr lang="en-US" dirty="0" err="1"/>
              <a:t>TypeError</a:t>
            </a:r>
            <a:endParaRPr lang="en-US" dirty="0"/>
          </a:p>
          <a:p>
            <a:pPr lvl="1"/>
            <a:r>
              <a:rPr lang="en-US" dirty="0" err="1"/>
              <a:t>ValueError</a:t>
            </a:r>
            <a:endParaRPr lang="en-US" dirty="0"/>
          </a:p>
          <a:p>
            <a:pPr lvl="1"/>
            <a:r>
              <a:rPr lang="en-US" dirty="0" err="1"/>
              <a:t>FileNotFoundError</a:t>
            </a:r>
            <a:endParaRPr lang="en-US" dirty="0"/>
          </a:p>
          <a:p>
            <a:pPr lvl="1"/>
            <a:r>
              <a:rPr lang="en-US" dirty="0" err="1"/>
              <a:t>TimeoutError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24094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F688-AA7F-AC01-4B05-49269DC6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9E6BB-7ED1-D1AF-5F88-0A7DF8B50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Handle Exceptions?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D8A60-BE14-0D83-D4CD-58C074E00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Purpose:</a:t>
            </a:r>
          </a:p>
          <a:p>
            <a:r>
              <a:rPr lang="en-US" dirty="0"/>
              <a:t>Prevent program crashes</a:t>
            </a:r>
          </a:p>
          <a:p>
            <a:r>
              <a:rPr lang="en-US" dirty="0"/>
              <a:t>Provide custom error messages</a:t>
            </a:r>
          </a:p>
          <a:p>
            <a:r>
              <a:rPr lang="en-US" dirty="0"/>
              <a:t>Maintain smooth automation flow</a:t>
            </a:r>
          </a:p>
          <a:p>
            <a:r>
              <a:rPr lang="en-US" dirty="0"/>
              <a:t>Retry failed steps automatically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83900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B150-5058-1D8F-0FA2-45528336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8C48F-9C0E-E643-2BFD-8E6AA28F8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48EB2-F866-73BD-4A9A-42D736F90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Exception handling lets you </a:t>
            </a:r>
            <a:r>
              <a:rPr lang="en-US" b="1" dirty="0"/>
              <a:t>detect</a:t>
            </a:r>
            <a:r>
              <a:rPr lang="en-US" dirty="0"/>
              <a:t>, </a:t>
            </a:r>
            <a:r>
              <a:rPr lang="en-US" b="1" dirty="0"/>
              <a:t>manage</a:t>
            </a:r>
            <a:r>
              <a:rPr lang="en-US" dirty="0"/>
              <a:t>, and </a:t>
            </a:r>
            <a:r>
              <a:rPr lang="en-US" b="1" dirty="0"/>
              <a:t>recover</a:t>
            </a:r>
            <a:r>
              <a:rPr lang="en-US" dirty="0"/>
              <a:t> from errors using try-except-else-finally.</a:t>
            </a:r>
          </a:p>
          <a:p>
            <a:r>
              <a:rPr lang="en-US" dirty="0"/>
              <a:t>try:</a:t>
            </a:r>
          </a:p>
          <a:p>
            <a:r>
              <a:rPr lang="en-US" dirty="0"/>
              <a:t>    # risky code</a:t>
            </a:r>
          </a:p>
          <a:p>
            <a:r>
              <a:rPr lang="en-US" dirty="0"/>
              <a:t>except Exception:</a:t>
            </a:r>
          </a:p>
          <a:p>
            <a:r>
              <a:rPr lang="en-US" dirty="0"/>
              <a:t>    # handle error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19124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45018-77E7-2809-D076-7DD2FFA2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EBACC-F911-AF1F-39C4-EEA4A6862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try–except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BA33A-E30E-FA0D-85D5-C43140333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try:</a:t>
            </a:r>
          </a:p>
          <a:p>
            <a:r>
              <a:rPr lang="en-US" dirty="0"/>
              <a:t>    x = 10 / 0</a:t>
            </a:r>
          </a:p>
          <a:p>
            <a:r>
              <a:rPr lang="en-US" dirty="0"/>
              <a:t>except </a:t>
            </a:r>
            <a:r>
              <a:rPr lang="en-US" dirty="0" err="1"/>
              <a:t>ZeroDivisionError</a:t>
            </a:r>
            <a:r>
              <a:rPr lang="en-US" dirty="0"/>
              <a:t>:</a:t>
            </a:r>
          </a:p>
          <a:p>
            <a:r>
              <a:rPr lang="en-US" dirty="0"/>
              <a:t>    print("Cannot divide by zero")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3A0A7D-6CB5-36C2-070C-5C612A508941}"/>
              </a:ext>
            </a:extLst>
          </p:cNvPr>
          <p:cNvSpPr txBox="1"/>
          <p:nvPr/>
        </p:nvSpPr>
        <p:spPr>
          <a:xfrm>
            <a:off x="7003312" y="4670273"/>
            <a:ext cx="49689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try:</a:t>
            </a:r>
          </a:p>
          <a:p>
            <a:r>
              <a:rPr lang="en-US" sz="2400" dirty="0"/>
              <a:t>    print(data)</a:t>
            </a:r>
          </a:p>
          <a:p>
            <a:r>
              <a:rPr lang="en-US" sz="2400" dirty="0"/>
              <a:t>except </a:t>
            </a:r>
            <a:r>
              <a:rPr lang="en-US" sz="2400" dirty="0" err="1"/>
              <a:t>NameError</a:t>
            </a:r>
            <a:r>
              <a:rPr lang="en-US" sz="2400" dirty="0"/>
              <a:t>:</a:t>
            </a:r>
          </a:p>
          <a:p>
            <a:r>
              <a:rPr lang="en-US" sz="2400" dirty="0"/>
              <a:t>    print("Variable not defined")</a:t>
            </a:r>
          </a:p>
        </p:txBody>
      </p:sp>
    </p:spTree>
    <p:extLst>
      <p:ext uri="{BB962C8B-B14F-4D97-AF65-F5344CB8AC3E}">
        <p14:creationId xmlns:p14="http://schemas.microsoft.com/office/powerpoint/2010/main" val="276343247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34F29-C690-874F-233B-D3A124B7F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82045-B31A-E051-62B8-62803F881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try–except–else–finally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404F9-E933-D63F-D9FE-806531153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try:</a:t>
            </a:r>
          </a:p>
          <a:p>
            <a:r>
              <a:rPr lang="en-US" dirty="0"/>
              <a:t>    f = open("file.txt")</a:t>
            </a:r>
          </a:p>
          <a:p>
            <a:r>
              <a:rPr lang="en-US" dirty="0"/>
              <a:t>except </a:t>
            </a:r>
            <a:r>
              <a:rPr lang="en-US" dirty="0" err="1"/>
              <a:t>FileNotFoundError</a:t>
            </a:r>
            <a:r>
              <a:rPr lang="en-US" dirty="0"/>
              <a:t>:</a:t>
            </a:r>
          </a:p>
          <a:p>
            <a:r>
              <a:rPr lang="en-US" dirty="0"/>
              <a:t>    print("File not found")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print("File opened successfully")</a:t>
            </a:r>
          </a:p>
          <a:p>
            <a:r>
              <a:rPr lang="en-US" dirty="0"/>
              <a:t>finally:</a:t>
            </a:r>
          </a:p>
          <a:p>
            <a:r>
              <a:rPr lang="en-US" dirty="0"/>
              <a:t>    print("Done")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400E9B-4722-5F4C-A576-D790FA709587}"/>
              </a:ext>
            </a:extLst>
          </p:cNvPr>
          <p:cNvSpPr txBox="1"/>
          <p:nvPr/>
        </p:nvSpPr>
        <p:spPr>
          <a:xfrm>
            <a:off x="7485322" y="3312064"/>
            <a:ext cx="42175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try:</a:t>
            </a:r>
          </a:p>
          <a:p>
            <a:r>
              <a:rPr lang="en-US" sz="2400" dirty="0"/>
              <a:t>    num = int("</a:t>
            </a:r>
            <a:r>
              <a:rPr lang="en-US" sz="2400" dirty="0" err="1"/>
              <a:t>abc</a:t>
            </a:r>
            <a:r>
              <a:rPr lang="en-US" sz="2400" dirty="0"/>
              <a:t>")</a:t>
            </a:r>
          </a:p>
          <a:p>
            <a:r>
              <a:rPr lang="en-US" sz="2400" dirty="0"/>
              <a:t>except </a:t>
            </a:r>
            <a:r>
              <a:rPr lang="en-US" sz="2400" dirty="0" err="1"/>
              <a:t>ValueError</a:t>
            </a:r>
            <a:r>
              <a:rPr lang="en-US" sz="2400" dirty="0"/>
              <a:t>:</a:t>
            </a:r>
          </a:p>
          <a:p>
            <a:r>
              <a:rPr lang="en-US" sz="2400" dirty="0"/>
              <a:t>    print("Invalid number")</a:t>
            </a:r>
          </a:p>
          <a:p>
            <a:r>
              <a:rPr lang="en-US" sz="2400" dirty="0"/>
              <a:t>finally:</a:t>
            </a:r>
          </a:p>
          <a:p>
            <a:r>
              <a:rPr lang="en-US" sz="2400" dirty="0"/>
              <a:t>    print("Cleanup done")</a:t>
            </a:r>
          </a:p>
        </p:txBody>
      </p:sp>
    </p:spTree>
    <p:extLst>
      <p:ext uri="{BB962C8B-B14F-4D97-AF65-F5344CB8AC3E}">
        <p14:creationId xmlns:p14="http://schemas.microsoft.com/office/powerpoint/2010/main" val="413645780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C853D-0E87-79B1-4CC4-589169E27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853C-837A-6C29-6B3A-80B9776DA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3: Custom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1497-265B-57A7-CB15-5CCEDE00E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create your own exception types using classes.</a:t>
            </a:r>
          </a:p>
          <a:p>
            <a:r>
              <a:rPr lang="en-US" dirty="0"/>
              <a:t>class </a:t>
            </a:r>
            <a:r>
              <a:rPr lang="en-US" dirty="0" err="1"/>
              <a:t>InvalidAge</a:t>
            </a:r>
            <a:r>
              <a:rPr lang="en-US" dirty="0"/>
              <a:t>(Exception):</a:t>
            </a:r>
          </a:p>
          <a:p>
            <a:r>
              <a:rPr lang="en-US" dirty="0"/>
              <a:t>    pass</a:t>
            </a:r>
          </a:p>
          <a:p>
            <a:endParaRPr lang="en-US" dirty="0"/>
          </a:p>
          <a:p>
            <a:r>
              <a:rPr lang="en-US" dirty="0"/>
              <a:t>raise </a:t>
            </a:r>
            <a:r>
              <a:rPr lang="en-US" dirty="0" err="1"/>
              <a:t>InvalidAge</a:t>
            </a:r>
            <a:r>
              <a:rPr lang="en-US" dirty="0"/>
              <a:t>("Age cannot be negative")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F2417-4B1B-FBB2-4DCA-92854278A86A}"/>
              </a:ext>
            </a:extLst>
          </p:cNvPr>
          <p:cNvSpPr txBox="1"/>
          <p:nvPr/>
        </p:nvSpPr>
        <p:spPr>
          <a:xfrm>
            <a:off x="7060018" y="4092338"/>
            <a:ext cx="43806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class </a:t>
            </a:r>
            <a:r>
              <a:rPr lang="en-US" sz="2400" dirty="0" err="1"/>
              <a:t>LoginError</a:t>
            </a:r>
            <a:r>
              <a:rPr lang="en-US" sz="2400" dirty="0"/>
              <a:t>(Exception):</a:t>
            </a:r>
          </a:p>
          <a:p>
            <a:r>
              <a:rPr lang="en-US" sz="2400" dirty="0"/>
              <a:t>    pass</a:t>
            </a:r>
          </a:p>
          <a:p>
            <a:endParaRPr lang="en-US" sz="2400" dirty="0"/>
          </a:p>
          <a:p>
            <a:r>
              <a:rPr lang="en-US" sz="2400" dirty="0"/>
              <a:t>raise </a:t>
            </a:r>
            <a:r>
              <a:rPr lang="en-US" sz="2400" dirty="0" err="1"/>
              <a:t>LoginError</a:t>
            </a:r>
            <a:r>
              <a:rPr lang="en-US" sz="2400" dirty="0"/>
              <a:t>("Login failed")</a:t>
            </a:r>
          </a:p>
        </p:txBody>
      </p:sp>
    </p:spTree>
    <p:extLst>
      <p:ext uri="{BB962C8B-B14F-4D97-AF65-F5344CB8AC3E}">
        <p14:creationId xmlns:p14="http://schemas.microsoft.com/office/powerpoint/2010/main" val="17335652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ABE78-8C8A-D9B0-6ABD-FE46F397C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453657"/>
            <a:ext cx="10058400" cy="5415436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class </a:t>
            </a:r>
            <a:r>
              <a:rPr lang="en-US" sz="1600" dirty="0" err="1"/>
              <a:t>ExInvalidInputError</a:t>
            </a:r>
            <a:r>
              <a:rPr lang="en-US" sz="1600" dirty="0"/>
              <a:t>(Exception):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 def __</a:t>
            </a:r>
            <a:r>
              <a:rPr lang="en-US" sz="1600" dirty="0" err="1"/>
              <a:t>init</a:t>
            </a:r>
            <a:r>
              <a:rPr lang="en-US" sz="1600" dirty="0"/>
              <a:t>__(self, </a:t>
            </a:r>
            <a:r>
              <a:rPr lang="en-US" sz="1600" dirty="0" err="1"/>
              <a:t>message,username</a:t>
            </a:r>
            <a:r>
              <a:rPr lang="en-US" sz="1600" dirty="0"/>
              <a:t>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    </a:t>
            </a:r>
            <a:r>
              <a:rPr lang="en-US" sz="1600" dirty="0" err="1"/>
              <a:t>self.message</a:t>
            </a:r>
            <a:r>
              <a:rPr lang="en-US" sz="1600" dirty="0"/>
              <a:t> = message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    </a:t>
            </a:r>
            <a:r>
              <a:rPr lang="en-US" sz="1600" dirty="0" err="1"/>
              <a:t>self.uname</a:t>
            </a:r>
            <a:r>
              <a:rPr lang="en-US" sz="1600" dirty="0"/>
              <a:t>=username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    super().__</a:t>
            </a:r>
            <a:r>
              <a:rPr lang="en-US" sz="1600" dirty="0" err="1"/>
              <a:t>init</a:t>
            </a:r>
            <a:r>
              <a:rPr lang="en-US" sz="1600" dirty="0"/>
              <a:t>__(</a:t>
            </a:r>
            <a:r>
              <a:rPr lang="en-US" sz="1600" dirty="0" err="1"/>
              <a:t>self.message,self.uname</a:t>
            </a:r>
            <a:r>
              <a:rPr lang="en-US" sz="1600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def </a:t>
            </a:r>
            <a:r>
              <a:rPr lang="en-US" sz="1600" dirty="0" err="1"/>
              <a:t>check_input</a:t>
            </a:r>
            <a:r>
              <a:rPr lang="en-US" sz="1600" dirty="0"/>
              <a:t>(value):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if not </a:t>
            </a:r>
            <a:r>
              <a:rPr lang="en-US" sz="1600" dirty="0" err="1"/>
              <a:t>isinstance</a:t>
            </a:r>
            <a:r>
              <a:rPr lang="en-US" sz="1600" dirty="0"/>
              <a:t>(value, int):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    raise </a:t>
            </a:r>
            <a:r>
              <a:rPr lang="en-US" sz="1600" dirty="0" err="1"/>
              <a:t>ExInvalidInputError</a:t>
            </a:r>
            <a:r>
              <a:rPr lang="en-US" sz="1600" dirty="0"/>
              <a:t>(</a:t>
            </a:r>
            <a:r>
              <a:rPr lang="en-US" sz="1600" dirty="0" err="1"/>
              <a:t>f"Expected</a:t>
            </a:r>
            <a:r>
              <a:rPr lang="en-US" sz="1600" dirty="0"/>
              <a:t> an integer, got {type(value)} </a:t>
            </a:r>
            <a:r>
              <a:rPr lang="en-US" sz="1600" dirty="0" err="1"/>
              <a:t>instead.","Harmeet</a:t>
            </a:r>
            <a:r>
              <a:rPr lang="en-US" sz="1600" dirty="0"/>
              <a:t>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return value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1600" dirty="0"/>
            </a:br>
            <a:r>
              <a:rPr lang="en-US" sz="1600" dirty="0"/>
              <a:t>try: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print(</a:t>
            </a:r>
            <a:r>
              <a:rPr lang="en-US" sz="1600" dirty="0" err="1"/>
              <a:t>check_input</a:t>
            </a:r>
            <a:r>
              <a:rPr lang="en-US" sz="1600" dirty="0"/>
              <a:t>("</a:t>
            </a:r>
            <a:r>
              <a:rPr lang="en-US" sz="1600" dirty="0" err="1"/>
              <a:t>india</a:t>
            </a:r>
            <a:r>
              <a:rPr lang="en-US" sz="1600" dirty="0"/>
              <a:t>"))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except Exception as e: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    print(</a:t>
            </a:r>
            <a:r>
              <a:rPr lang="en-US" sz="1600" dirty="0" err="1"/>
              <a:t>f"Error</a:t>
            </a:r>
            <a:r>
              <a:rPr lang="en-US" sz="1600" dirty="0"/>
              <a:t>: {e}")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2525914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6A28B-6756-4C89-7217-F3CE68F40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B3D5C-0CCF-7FD6-0343-7074FAE1D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Retry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72DCF-7480-269F-EC56-66477B2FD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</a:p>
          <a:p>
            <a:r>
              <a:rPr lang="en-US" dirty="0"/>
              <a:t>Retry logic repeatedly attempts an operation when it fails, improving automation stability.</a:t>
            </a:r>
          </a:p>
          <a:p>
            <a:r>
              <a:rPr lang="en-US" b="1" dirty="0"/>
              <a:t>Used In:</a:t>
            </a:r>
          </a:p>
          <a:p>
            <a:r>
              <a:rPr lang="en-US" dirty="0"/>
              <a:t>Web automation (Selenium/Playwright)</a:t>
            </a:r>
          </a:p>
          <a:p>
            <a:r>
              <a:rPr lang="en-US" dirty="0"/>
              <a:t>API calls</a:t>
            </a:r>
          </a:p>
          <a:p>
            <a:r>
              <a:rPr lang="en-US" dirty="0"/>
              <a:t>Database connections</a:t>
            </a:r>
          </a:p>
          <a:p>
            <a:r>
              <a:rPr lang="en-US" dirty="0"/>
              <a:t>Desktop UI automation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16283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B8C01-CB40-0884-F620-30BF0EE30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6340-F033-FA7F-9664-FE2B02141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37B71-8C60-A439-C97F-FA4FD455A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retries = 3</a:t>
            </a:r>
          </a:p>
          <a:p>
            <a:r>
              <a:rPr lang="en-US" dirty="0"/>
              <a:t>while retries &gt; 0:</a:t>
            </a:r>
          </a:p>
          <a:p>
            <a:r>
              <a:rPr lang="en-US" dirty="0"/>
              <a:t>    try:</a:t>
            </a:r>
          </a:p>
          <a:p>
            <a:r>
              <a:rPr lang="en-US" dirty="0"/>
              <a:t>        </a:t>
            </a:r>
            <a:r>
              <a:rPr lang="en-US" dirty="0" err="1"/>
              <a:t>connect_to_server</a:t>
            </a:r>
            <a:r>
              <a:rPr lang="en-US" dirty="0"/>
              <a:t>()</a:t>
            </a:r>
          </a:p>
          <a:p>
            <a:r>
              <a:rPr lang="en-US" dirty="0"/>
              <a:t>        break</a:t>
            </a:r>
          </a:p>
          <a:p>
            <a:r>
              <a:rPr lang="en-US" dirty="0"/>
              <a:t>    except:</a:t>
            </a:r>
          </a:p>
          <a:p>
            <a:r>
              <a:rPr lang="en-US"/>
              <a:t>        retries -= 1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4800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A01C-6B0F-17DF-DFFA-D0231C1AE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Parsing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53F5E-DC54-8D67-5204-F4A214645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JSON (JavaScript Object Notation) is used for APIs, config files, bot data exchange, log output, etc.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45391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62DB9-50C5-03D4-491F-71617E96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EA42F-AF21-6E08-1F5B-82E4CF96F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json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json_data</a:t>
            </a:r>
            <a:r>
              <a:rPr lang="en-US" dirty="0"/>
              <a:t> = '{"name": "Harmeet", "age": 25, "skills": ["Python", "Automation"]}'</a:t>
            </a:r>
          </a:p>
          <a:p>
            <a:endParaRPr lang="en-US" dirty="0"/>
          </a:p>
          <a:p>
            <a:r>
              <a:rPr lang="en-US" dirty="0"/>
              <a:t>parsed = </a:t>
            </a:r>
            <a:r>
              <a:rPr lang="en-US" dirty="0" err="1"/>
              <a:t>json.loads</a:t>
            </a:r>
            <a:r>
              <a:rPr lang="en-US" dirty="0"/>
              <a:t>(</a:t>
            </a:r>
            <a:r>
              <a:rPr lang="en-US" dirty="0" err="1"/>
              <a:t>json_data</a:t>
            </a:r>
            <a:r>
              <a:rPr lang="en-US" dirty="0"/>
              <a:t>)</a:t>
            </a:r>
          </a:p>
          <a:p>
            <a:r>
              <a:rPr lang="en-US" dirty="0"/>
              <a:t>print(parsed)</a:t>
            </a:r>
          </a:p>
          <a:p>
            <a:r>
              <a:rPr lang="en-US" dirty="0"/>
              <a:t>print(parsed["name"])</a:t>
            </a:r>
          </a:p>
        </p:txBody>
      </p:sp>
    </p:spTree>
    <p:extLst>
      <p:ext uri="{BB962C8B-B14F-4D97-AF65-F5344CB8AC3E}">
        <p14:creationId xmlns:p14="http://schemas.microsoft.com/office/powerpoint/2010/main" val="110498614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CA243-34F5-0680-0AA1-C881D266B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A5E3-A425-3C79-E499-B3AA0AC80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BDD2B-FDEA-F61D-F511-6957E4472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 = {"</a:t>
            </a:r>
            <a:r>
              <a:rPr lang="en-US" dirty="0" err="1"/>
              <a:t>url</a:t>
            </a:r>
            <a:r>
              <a:rPr lang="en-US" dirty="0"/>
              <a:t>": "https://example.com", "timeout": 10}</a:t>
            </a:r>
          </a:p>
          <a:p>
            <a:endParaRPr lang="en-US" dirty="0"/>
          </a:p>
          <a:p>
            <a:r>
              <a:rPr lang="en-US" dirty="0"/>
              <a:t>with open("</a:t>
            </a:r>
            <a:r>
              <a:rPr lang="en-US" dirty="0" err="1"/>
              <a:t>config.json</a:t>
            </a:r>
            <a:r>
              <a:rPr lang="en-US" dirty="0"/>
              <a:t>", "w") as file:</a:t>
            </a:r>
          </a:p>
          <a:p>
            <a:r>
              <a:rPr lang="en-US" dirty="0"/>
              <a:t>    </a:t>
            </a:r>
            <a:r>
              <a:rPr lang="en-US" dirty="0" err="1"/>
              <a:t>json.dump</a:t>
            </a:r>
            <a:r>
              <a:rPr lang="en-US" dirty="0"/>
              <a:t>(config, file, indent=4)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72638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F3C04-70A0-1DEC-2C5D-9FB91357C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35FB-7DBF-8602-E8A3-99F090E8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Singleton Pattern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A30EB-3F4C-311D-A8AF-A6687C277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Singleton</a:t>
            </a:r>
            <a:r>
              <a:rPr lang="en-US" dirty="0"/>
              <a:t> ensures only </a:t>
            </a:r>
            <a:r>
              <a:rPr lang="en-US" b="1" dirty="0"/>
              <a:t>one instance</a:t>
            </a:r>
            <a:r>
              <a:rPr lang="en-US" dirty="0"/>
              <a:t> of a class ever exists.</a:t>
            </a:r>
          </a:p>
          <a:p>
            <a:r>
              <a:rPr lang="en-US" dirty="0"/>
              <a:t>Useful in automation for: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Logging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Database connections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Browser session management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Configuration manager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9817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CC985-9BB0-9D7F-BA42-6FDE041F7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7C7A9-E2A3-9678-4657-EF953A4B1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C5D3F-2AC1-1C95-2D5A-643A8AF5C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class Singleton: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_instance = None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def __new__(</a:t>
            </a:r>
            <a:r>
              <a:rPr lang="en-US" dirty="0" err="1"/>
              <a:t>cls</a:t>
            </a:r>
            <a:r>
              <a:rPr lang="en-US" dirty="0"/>
              <a:t>, *</a:t>
            </a:r>
            <a:r>
              <a:rPr lang="en-US" dirty="0" err="1"/>
              <a:t>args</a:t>
            </a:r>
            <a:r>
              <a:rPr lang="en-US" dirty="0"/>
              <a:t>, **</a:t>
            </a:r>
            <a:r>
              <a:rPr lang="en-US" dirty="0" err="1"/>
              <a:t>kwargs</a:t>
            </a:r>
            <a:r>
              <a:rPr lang="en-US" dirty="0"/>
              <a:t>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if </a:t>
            </a:r>
            <a:r>
              <a:rPr lang="en-US" dirty="0" err="1"/>
              <a:t>cls</a:t>
            </a:r>
            <a:r>
              <a:rPr lang="en-US" dirty="0"/>
              <a:t>._instance is None: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    </a:t>
            </a:r>
            <a:r>
              <a:rPr lang="en-US" dirty="0" err="1"/>
              <a:t>cls</a:t>
            </a:r>
            <a:r>
              <a:rPr lang="en-US" dirty="0"/>
              <a:t>._instance = super(Singleton, </a:t>
            </a:r>
            <a:r>
              <a:rPr lang="en-US" dirty="0" err="1"/>
              <a:t>cls</a:t>
            </a:r>
            <a:r>
              <a:rPr lang="en-US" dirty="0"/>
              <a:t>).__new__(</a:t>
            </a:r>
            <a:r>
              <a:rPr lang="en-US" dirty="0" err="1"/>
              <a:t>cls</a:t>
            </a:r>
            <a:r>
              <a:rPr lang="en-US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return </a:t>
            </a:r>
            <a:r>
              <a:rPr lang="en-US" dirty="0" err="1"/>
              <a:t>cls</a:t>
            </a:r>
            <a:r>
              <a:rPr lang="en-US" dirty="0"/>
              <a:t>._instance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# Usage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obj1 = Singleton()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obj2 = Singleton()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print(obj1 is obj2)   # True → same object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9640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14DD1-29EC-74FD-AF82-A05CE24ED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2097B-11B7-2E7A-4286-7D6BD62E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Health Check in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A109B-F070-AEAE-0D25-0C8E29354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for monitoring apps, bots, APIs, schedulers, services.</a:t>
            </a:r>
          </a:p>
          <a:p>
            <a:r>
              <a:rPr lang="en-US" dirty="0"/>
              <a:t>Health check tells: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Is website API up?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Is database reachable?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Is disk space OK?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Is email server accessible?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Is Selenium browser active?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24031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CF1E9-3871-BE0E-9AE9-17D2FE469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13791-5CB8-45B5-4227-4A7B46FD5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071B8-E366-7686-ECA5-D765E5059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import sqlite3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def </a:t>
            </a:r>
            <a:r>
              <a:rPr lang="en-US" dirty="0" err="1"/>
              <a:t>check_db</a:t>
            </a:r>
            <a:r>
              <a:rPr lang="en-US" dirty="0"/>
              <a:t>(path="</a:t>
            </a:r>
            <a:r>
              <a:rPr lang="en-US" dirty="0" err="1"/>
              <a:t>client.db</a:t>
            </a:r>
            <a:r>
              <a:rPr lang="en-US" dirty="0"/>
              <a:t>"):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try: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conn = sqlite3.connect(path)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</a:t>
            </a:r>
            <a:r>
              <a:rPr lang="en-US" dirty="0" err="1"/>
              <a:t>conn.execute</a:t>
            </a:r>
            <a:r>
              <a:rPr lang="en-US" dirty="0"/>
              <a:t>("SELECT 1")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</a:t>
            </a:r>
            <a:r>
              <a:rPr lang="en-US" dirty="0" err="1"/>
              <a:t>conn.close</a:t>
            </a:r>
            <a:r>
              <a:rPr lang="en-US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return True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except Exception: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 return False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print(</a:t>
            </a:r>
            <a:r>
              <a:rPr lang="en-US" dirty="0" err="1"/>
              <a:t>check_db</a:t>
            </a:r>
            <a:r>
              <a:rPr lang="en-US" dirty="0"/>
              <a:t>())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78175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17317-F0E1-E713-28CF-45851DDA5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7C9EB-1DF8-227A-6C15-1C85EA625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59235-3AB2-67B7-2EF9-52385BC46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import </a:t>
            </a:r>
            <a:r>
              <a:rPr lang="en-US" dirty="0" err="1"/>
              <a:t>shutil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check_disk</a:t>
            </a:r>
            <a:r>
              <a:rPr lang="en-US" dirty="0"/>
              <a:t>(</a:t>
            </a:r>
            <a:r>
              <a:rPr lang="en-US" dirty="0" err="1"/>
              <a:t>min_gb</a:t>
            </a:r>
            <a:r>
              <a:rPr lang="en-US" dirty="0"/>
              <a:t>=1):</a:t>
            </a:r>
          </a:p>
          <a:p>
            <a:r>
              <a:rPr lang="en-US" dirty="0"/>
              <a:t>    total, used, free = </a:t>
            </a:r>
            <a:r>
              <a:rPr lang="en-US" dirty="0" err="1"/>
              <a:t>shutil.disk_usage</a:t>
            </a:r>
            <a:r>
              <a:rPr lang="en-US" dirty="0"/>
              <a:t>("/")</a:t>
            </a:r>
          </a:p>
          <a:p>
            <a:r>
              <a:rPr lang="en-US" dirty="0"/>
              <a:t>    </a:t>
            </a:r>
            <a:r>
              <a:rPr lang="en-US" dirty="0" err="1"/>
              <a:t>free_gb</a:t>
            </a:r>
            <a:r>
              <a:rPr lang="en-US" dirty="0"/>
              <a:t> = free / (1024**3)</a:t>
            </a:r>
          </a:p>
          <a:p>
            <a:r>
              <a:rPr lang="en-US" dirty="0"/>
              <a:t>    return </a:t>
            </a:r>
            <a:r>
              <a:rPr lang="en-US" dirty="0" err="1"/>
              <a:t>free_gb</a:t>
            </a:r>
            <a:r>
              <a:rPr lang="en-US" dirty="0"/>
              <a:t> &gt; </a:t>
            </a:r>
            <a:r>
              <a:rPr lang="en-US" dirty="0" err="1"/>
              <a:t>min_gb</a:t>
            </a:r>
            <a:endParaRPr lang="en-US" dirty="0"/>
          </a:p>
          <a:p>
            <a:endParaRPr lang="en-US" dirty="0"/>
          </a:p>
          <a:p>
            <a:r>
              <a:rPr lang="en-US" dirty="0"/>
              <a:t>print(</a:t>
            </a:r>
            <a:r>
              <a:rPr lang="en-US" dirty="0" err="1"/>
              <a:t>check_disk</a:t>
            </a:r>
            <a:r>
              <a:rPr lang="en-US"/>
              <a:t>())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94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CB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03DFE0-6AC6-4E51-0614-63208EB4D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AEF65-87BE-0B8D-D31F-8C32A44CC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rmAutofit/>
          </a:bodyPr>
          <a:lstStyle/>
          <a:p>
            <a:r>
              <a:rPr lang="en-US" dirty="0"/>
              <a:t>Thanks</a:t>
            </a:r>
          </a:p>
        </p:txBody>
      </p:sp>
      <p:pic>
        <p:nvPicPr>
          <p:cNvPr id="5" name="Picture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1DB5A913-57EC-4732-58BE-2CC2EC9F40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681"/>
          <a:stretch>
            <a:fillRect/>
          </a:stretch>
        </p:blipFill>
        <p:spPr>
          <a:xfrm>
            <a:off x="551055" y="1829736"/>
            <a:ext cx="5181117" cy="246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67626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{E918D6C8-6E42-40E8-A5AF-8A6CFD0536D2}TF235124e3-e6db-4c6d-93c8-733f2fadbc609fb6f57c_win32-b1e91d96f19e</Template>
  <TotalTime>1344</TotalTime>
  <Words>8961</Words>
  <Application>Microsoft Office PowerPoint</Application>
  <PresentationFormat>Widescreen</PresentationFormat>
  <Paragraphs>1281</Paragraphs>
  <Slides>107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3" baseType="lpstr">
      <vt:lpstr>Arial</vt:lpstr>
      <vt:lpstr>Calibri</vt:lpstr>
      <vt:lpstr>Georgia Pro Cond Light</vt:lpstr>
      <vt:lpstr>Speak Pro</vt:lpstr>
      <vt:lpstr>Wingdings</vt:lpstr>
      <vt:lpstr>RetrospectVTI</vt:lpstr>
      <vt:lpstr>  Python for Automation </vt:lpstr>
      <vt:lpstr>PowerPoint Presentation</vt:lpstr>
      <vt:lpstr>Day01</vt:lpstr>
      <vt:lpstr>Introduction to Python and its Features</vt:lpstr>
      <vt:lpstr>Key Features of Python:</vt:lpstr>
      <vt:lpstr>Setting up Python Development Environment</vt:lpstr>
      <vt:lpstr>PowerPoint Presentation</vt:lpstr>
      <vt:lpstr>Running Python Scripts</vt:lpstr>
      <vt:lpstr>Basic Python Syntax and Indentation</vt:lpstr>
      <vt:lpstr>Basic Python Syntax:</vt:lpstr>
      <vt:lpstr>Naming Convention</vt:lpstr>
      <vt:lpstr>PowerPoint Presentation</vt:lpstr>
      <vt:lpstr>Other Naming Styles in Python:</vt:lpstr>
      <vt:lpstr>General Rules for Python Variable Names:</vt:lpstr>
      <vt:lpstr>Let's have a small demo:  First Python program</vt:lpstr>
      <vt:lpstr>Variables &amp; Data Types</vt:lpstr>
      <vt:lpstr>Type Conversion</vt:lpstr>
      <vt:lpstr>Comments</vt:lpstr>
      <vt:lpstr>Input/Output</vt:lpstr>
      <vt:lpstr>Basic Operations</vt:lpstr>
      <vt:lpstr>if, elif, else</vt:lpstr>
      <vt:lpstr>for Loop</vt:lpstr>
      <vt:lpstr>while Loop</vt:lpstr>
      <vt:lpstr>break, continue, pass</vt:lpstr>
      <vt:lpstr>Logical Operations</vt:lpstr>
      <vt:lpstr>Working With Strings</vt:lpstr>
      <vt:lpstr>Practice Time</vt:lpstr>
      <vt:lpstr>Collections (List, Tuple, Dictionary)</vt:lpstr>
      <vt:lpstr>List Data Type</vt:lpstr>
      <vt:lpstr>PowerPoint Presentation</vt:lpstr>
      <vt:lpstr>Tuple Data Type</vt:lpstr>
      <vt:lpstr>PowerPoint Presentation</vt:lpstr>
      <vt:lpstr>Dictionary Data Type</vt:lpstr>
      <vt:lpstr>PowerPoint Presentation</vt:lpstr>
      <vt:lpstr>Practice Time</vt:lpstr>
      <vt:lpstr>Functions</vt:lpstr>
      <vt:lpstr>PowerPoint Presentation</vt:lpstr>
      <vt:lpstr>Modules</vt:lpstr>
      <vt:lpstr>PowerPoint Presentation</vt:lpstr>
      <vt:lpstr>*args &amp; kwargs</vt:lpstr>
      <vt:lpstr>Decorators</vt:lpstr>
      <vt:lpstr>PowerPoint Presentation</vt:lpstr>
      <vt:lpstr>Object-Oriented Programming (OOP)</vt:lpstr>
      <vt:lpstr>PowerPoint Presentation</vt:lpstr>
      <vt:lpstr>Key Concepts of OOP in Python:</vt:lpstr>
      <vt:lpstr>1. Classes and Objects:</vt:lpstr>
      <vt:lpstr>Basic Example</vt:lpstr>
      <vt:lpstr>Example #2</vt:lpstr>
      <vt:lpstr>Example #3</vt:lpstr>
      <vt:lpstr>PowerPoint Presentation</vt:lpstr>
      <vt:lpstr>2. Encapsulation</vt:lpstr>
      <vt:lpstr>PowerPoint Presentation</vt:lpstr>
      <vt:lpstr>3. Inheritance: </vt:lpstr>
      <vt:lpstr>PowerPoint Presentation</vt:lpstr>
      <vt:lpstr>PowerPoint Presentation</vt:lpstr>
      <vt:lpstr>4. Polymorphism: </vt:lpstr>
      <vt:lpstr>PowerPoint Presentation</vt:lpstr>
      <vt:lpstr>PowerPoint Presentation</vt:lpstr>
      <vt:lpstr>PowerPoint Presentation</vt:lpstr>
      <vt:lpstr>PowerPoint Presentation</vt:lpstr>
      <vt:lpstr>What is Automation or  Where is Automation???</vt:lpstr>
      <vt:lpstr>PowerPoint Presentation</vt:lpstr>
      <vt:lpstr>PowerPoint Presentation</vt:lpstr>
      <vt:lpstr>Python Automation:  Count &amp; List Files in Current Folder</vt:lpstr>
      <vt:lpstr>PowerPoint Presentation</vt:lpstr>
      <vt:lpstr>One more extension</vt:lpstr>
      <vt:lpstr>One more example which is more dynamic</vt:lpstr>
      <vt:lpstr>Web Automation</vt:lpstr>
      <vt:lpstr>PowerPoint Presentation</vt:lpstr>
      <vt:lpstr>Browser Automation with Selenium</vt:lpstr>
      <vt:lpstr>PowerPoint Presentation</vt:lpstr>
      <vt:lpstr>PowerPoint Presentation</vt:lpstr>
      <vt:lpstr>Browser Automation with Playwright</vt:lpstr>
      <vt:lpstr>Demo: Dummy Login → Scrape Table → Logout</vt:lpstr>
      <vt:lpstr>PowerPoint Presentation</vt:lpstr>
      <vt:lpstr>Practice Time with TRAINER</vt:lpstr>
      <vt:lpstr>Lets go bit beyond</vt:lpstr>
      <vt:lpstr>So Can we do with LinkedIn</vt:lpstr>
      <vt:lpstr>BeautifulSoup4 -  HTML Parsing &amp; Web Scraping</vt:lpstr>
      <vt:lpstr>PowerPoint Presentation</vt:lpstr>
      <vt:lpstr>PowerPoint Presentation</vt:lpstr>
      <vt:lpstr>Lets have one more example:</vt:lpstr>
      <vt:lpstr>UI Automation</vt:lpstr>
      <vt:lpstr>Automating Desktop Applications</vt:lpstr>
      <vt:lpstr>PowerPoint Presentation</vt:lpstr>
      <vt:lpstr>PowerPoint Presentation</vt:lpstr>
      <vt:lpstr>Lets work on one Important Task</vt:lpstr>
      <vt:lpstr>Code</vt:lpstr>
      <vt:lpstr>Exception &amp; Retry Handling</vt:lpstr>
      <vt:lpstr>What Is an Exception?</vt:lpstr>
      <vt:lpstr>Why Handle Exceptions?</vt:lpstr>
      <vt:lpstr>Exception Handling Techniques</vt:lpstr>
      <vt:lpstr>1: try–except</vt:lpstr>
      <vt:lpstr>2: try–except–else–finally</vt:lpstr>
      <vt:lpstr>3: Custom Exceptions</vt:lpstr>
      <vt:lpstr>PowerPoint Presentation</vt:lpstr>
      <vt:lpstr>Retry Logic</vt:lpstr>
      <vt:lpstr>PowerPoint Presentation</vt:lpstr>
      <vt:lpstr>JSON Parsing in Python</vt:lpstr>
      <vt:lpstr>PowerPoint Presentation</vt:lpstr>
      <vt:lpstr>PowerPoint Presentation</vt:lpstr>
      <vt:lpstr>Singleton Pattern in Python</vt:lpstr>
      <vt:lpstr>PowerPoint Presentation</vt:lpstr>
      <vt:lpstr>Health Check in Python</vt:lpstr>
      <vt:lpstr>PowerPoint Presentation</vt:lpstr>
      <vt:lpstr>PowerPoint Presentation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sehraharmeetsingh@hotmail.com</dc:creator>
  <cp:lastModifiedBy>sehraharmeetsingh@hotmail.com</cp:lastModifiedBy>
  <cp:revision>300</cp:revision>
  <dcterms:created xsi:type="dcterms:W3CDTF">2025-11-26T09:32:28Z</dcterms:created>
  <dcterms:modified xsi:type="dcterms:W3CDTF">2025-12-02T10:20:49Z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